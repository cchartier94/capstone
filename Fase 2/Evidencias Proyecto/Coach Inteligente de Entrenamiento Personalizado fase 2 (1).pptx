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7" roundtripDataSignature="AMtx7mi/3/y40oR4Xf3F0gi77HzC017G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7.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1.png"/><Relationship Id="rId11" Type="http://schemas.openxmlformats.org/officeDocument/2006/relationships/image" Target="../media/image13.png"/><Relationship Id="rId10" Type="http://schemas.openxmlformats.org/officeDocument/2006/relationships/image" Target="../media/image22.png"/><Relationship Id="rId9"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20.png"/><Relationship Id="rId7" Type="http://schemas.openxmlformats.org/officeDocument/2006/relationships/image" Target="../media/image1.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39.png"/><Relationship Id="rId8"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3.png"/><Relationship Id="rId4" Type="http://schemas.openxmlformats.org/officeDocument/2006/relationships/image" Target="../media/image25.png"/><Relationship Id="rId10" Type="http://schemas.openxmlformats.org/officeDocument/2006/relationships/image" Target="../media/image42.png"/><Relationship Id="rId9" Type="http://schemas.openxmlformats.org/officeDocument/2006/relationships/image" Target="../media/image19.jpg"/><Relationship Id="rId5" Type="http://schemas.openxmlformats.org/officeDocument/2006/relationships/image" Target="../media/image27.png"/><Relationship Id="rId6" Type="http://schemas.openxmlformats.org/officeDocument/2006/relationships/image" Target="../media/image23.png"/><Relationship Id="rId7" Type="http://schemas.openxmlformats.org/officeDocument/2006/relationships/image" Target="../media/image17.png"/><Relationship Id="rId8"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1.jp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1.jpg"/><Relationship Id="rId4" Type="http://schemas.openxmlformats.org/officeDocument/2006/relationships/image" Target="../media/image34.png"/><Relationship Id="rId5" Type="http://schemas.openxmlformats.org/officeDocument/2006/relationships/image" Target="../media/image26.png"/><Relationship Id="rId6" Type="http://schemas.openxmlformats.org/officeDocument/2006/relationships/image" Target="../media/image30.png"/><Relationship Id="rId7"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44.jpg"/><Relationship Id="rId6"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4.jpg"/><Relationship Id="rId4" Type="http://schemas.openxmlformats.org/officeDocument/2006/relationships/image" Target="../media/image35.png"/><Relationship Id="rId5"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7.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10980230" y="74372"/>
            <a:ext cx="6602483" cy="11027111"/>
          </a:xfrm>
          <a:custGeom>
            <a:rect b="b" l="l" r="r" t="t"/>
            <a:pathLst>
              <a:path extrusionOk="0" h="11027111" w="6602483">
                <a:moveTo>
                  <a:pt x="0" y="0"/>
                </a:moveTo>
                <a:lnTo>
                  <a:pt x="6602482" y="0"/>
                </a:lnTo>
                <a:lnTo>
                  <a:pt x="6602482" y="11027112"/>
                </a:lnTo>
                <a:lnTo>
                  <a:pt x="0" y="1102711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86" name="Google Shape;86;p1"/>
          <p:cNvGrpSpPr/>
          <p:nvPr/>
        </p:nvGrpSpPr>
        <p:grpSpPr>
          <a:xfrm>
            <a:off x="979695" y="5931793"/>
            <a:ext cx="3319162" cy="776125"/>
            <a:chOff x="0" y="-57150"/>
            <a:chExt cx="874183" cy="204411"/>
          </a:xfrm>
        </p:grpSpPr>
        <p:sp>
          <p:nvSpPr>
            <p:cNvPr id="87" name="Google Shape;87;p1"/>
            <p:cNvSpPr/>
            <p:nvPr/>
          </p:nvSpPr>
          <p:spPr>
            <a:xfrm>
              <a:off x="0" y="0"/>
              <a:ext cx="874183" cy="147261"/>
            </a:xfrm>
            <a:custGeom>
              <a:rect b="b" l="l" r="r" t="t"/>
              <a:pathLst>
                <a:path extrusionOk="0" h="147261" w="874183">
                  <a:moveTo>
                    <a:pt x="60645" y="0"/>
                  </a:moveTo>
                  <a:lnTo>
                    <a:pt x="813538" y="0"/>
                  </a:lnTo>
                  <a:cubicBezTo>
                    <a:pt x="847031" y="0"/>
                    <a:pt x="874183" y="27152"/>
                    <a:pt x="874183" y="60645"/>
                  </a:cubicBezTo>
                  <a:lnTo>
                    <a:pt x="874183" y="86617"/>
                  </a:lnTo>
                  <a:cubicBezTo>
                    <a:pt x="874183" y="120110"/>
                    <a:pt x="847031" y="147261"/>
                    <a:pt x="813538" y="147261"/>
                  </a:cubicBezTo>
                  <a:lnTo>
                    <a:pt x="60645" y="147261"/>
                  </a:lnTo>
                  <a:cubicBezTo>
                    <a:pt x="27152" y="147261"/>
                    <a:pt x="0" y="120110"/>
                    <a:pt x="0" y="86617"/>
                  </a:cubicBezTo>
                  <a:lnTo>
                    <a:pt x="0" y="60645"/>
                  </a:lnTo>
                  <a:cubicBezTo>
                    <a:pt x="0" y="27152"/>
                    <a:pt x="27152" y="0"/>
                    <a:pt x="60645"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txBox="1"/>
            <p:nvPr/>
          </p:nvSpPr>
          <p:spPr>
            <a:xfrm>
              <a:off x="0" y="-57150"/>
              <a:ext cx="874183" cy="204411"/>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Arial"/>
                  <a:ea typeface="Arial"/>
                  <a:cs typeface="Arial"/>
                  <a:sym typeface="Arial"/>
                </a:rPr>
                <a:t>Integrantes | Sección</a:t>
              </a:r>
              <a:endParaRPr b="0" i="0" sz="1400" u="none" cap="none" strike="noStrike">
                <a:solidFill>
                  <a:srgbClr val="000000"/>
                </a:solidFill>
                <a:latin typeface="Arial"/>
                <a:ea typeface="Arial"/>
                <a:cs typeface="Arial"/>
                <a:sym typeface="Arial"/>
              </a:endParaRPr>
            </a:p>
          </p:txBody>
        </p:sp>
      </p:grpSp>
      <p:sp>
        <p:nvSpPr>
          <p:cNvPr id="89" name="Google Shape;89;p1"/>
          <p:cNvSpPr/>
          <p:nvPr/>
        </p:nvSpPr>
        <p:spPr>
          <a:xfrm>
            <a:off x="979695" y="1488573"/>
            <a:ext cx="642067" cy="614467"/>
          </a:xfrm>
          <a:custGeom>
            <a:rect b="b" l="l" r="r" t="t"/>
            <a:pathLst>
              <a:path extrusionOk="0" h="614467" w="642067">
                <a:moveTo>
                  <a:pt x="0" y="0"/>
                </a:moveTo>
                <a:lnTo>
                  <a:pt x="642067" y="0"/>
                </a:lnTo>
                <a:lnTo>
                  <a:pt x="642067" y="614467"/>
                </a:lnTo>
                <a:lnTo>
                  <a:pt x="0" y="61446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 name="Google Shape;90;p1"/>
          <p:cNvSpPr txBox="1"/>
          <p:nvPr/>
        </p:nvSpPr>
        <p:spPr>
          <a:xfrm>
            <a:off x="1028700" y="2241285"/>
            <a:ext cx="9536271" cy="1486524"/>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8652"/>
              <a:buFont typeface="Arial"/>
              <a:buNone/>
            </a:pPr>
            <a:r>
              <a:rPr b="0" i="0" lang="en-US" sz="8652" u="none" cap="none" strike="noStrike">
                <a:solidFill>
                  <a:srgbClr val="FFFFFF"/>
                </a:solidFill>
                <a:latin typeface="Arial"/>
                <a:ea typeface="Arial"/>
                <a:cs typeface="Arial"/>
                <a:sym typeface="Arial"/>
              </a:rPr>
              <a:t>FitAI</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1809321" y="1508729"/>
            <a:ext cx="1017429" cy="318595"/>
          </a:xfrm>
          <a:prstGeom prst="rect">
            <a:avLst/>
          </a:prstGeom>
          <a:noFill/>
          <a:ln>
            <a:noFill/>
          </a:ln>
        </p:spPr>
        <p:txBody>
          <a:bodyPr anchorCtr="0" anchor="t" bIns="0" lIns="0" spcFirstLastPara="1" rIns="0" wrap="square" tIns="0">
            <a:spAutoFit/>
          </a:bodyPr>
          <a:lstStyle/>
          <a:p>
            <a:pPr indent="0" lvl="0" marL="0" marR="0" rtl="0" algn="l">
              <a:lnSpc>
                <a:spcPct val="130026"/>
              </a:lnSpc>
              <a:spcBef>
                <a:spcPts val="0"/>
              </a:spcBef>
              <a:spcAft>
                <a:spcPts val="0"/>
              </a:spcAft>
              <a:buClr>
                <a:srgbClr val="000000"/>
              </a:buClr>
              <a:buSzPts val="1845"/>
              <a:buFont typeface="Arial"/>
              <a:buNone/>
            </a:pPr>
            <a:r>
              <a:rPr b="0" i="0" lang="en-US" sz="1845" u="none" cap="none" strike="noStrike">
                <a:solidFill>
                  <a:srgbClr val="FFFFFF"/>
                </a:solidFill>
                <a:latin typeface="Arial"/>
                <a:ea typeface="Arial"/>
                <a:cs typeface="Arial"/>
                <a:sym typeface="Arial"/>
              </a:rPr>
              <a:t>Duoc UC</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979695" y="4232634"/>
            <a:ext cx="8053500" cy="956159"/>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2219"/>
              <a:buFont typeface="Arial"/>
              <a:buNone/>
            </a:pPr>
            <a:r>
              <a:rPr b="0" i="0" lang="en-US" sz="2219" u="none" cap="none" strike="noStrike">
                <a:solidFill>
                  <a:srgbClr val="FFFFFF"/>
                </a:solidFill>
                <a:latin typeface="Arial"/>
                <a:ea typeface="Arial"/>
                <a:cs typeface="Arial"/>
                <a:sym typeface="Arial"/>
              </a:rPr>
              <a:t>Coach Inteligente de Entrenamiento Personalizado</a:t>
            </a:r>
            <a:endParaRPr/>
          </a:p>
          <a:p>
            <a:pPr indent="0" lvl="0" marL="0" marR="0" rtl="0" algn="l">
              <a:lnSpc>
                <a:spcPct val="140018"/>
              </a:lnSpc>
              <a:spcBef>
                <a:spcPts val="0"/>
              </a:spcBef>
              <a:spcAft>
                <a:spcPts val="0"/>
              </a:spcAft>
              <a:buClr>
                <a:srgbClr val="000000"/>
              </a:buClr>
              <a:buSzPts val="2219"/>
              <a:buFont typeface="Arial"/>
              <a:buNone/>
            </a:pPr>
            <a:r>
              <a:rPr b="0" i="0" lang="en-US" sz="2219" u="none" cap="none" strike="noStrike">
                <a:solidFill>
                  <a:srgbClr val="FFFFFF"/>
                </a:solidFill>
                <a:latin typeface="Arial"/>
                <a:ea typeface="Arial"/>
                <a:cs typeface="Arial"/>
                <a:sym typeface="Arial"/>
              </a:rPr>
              <a:t>Fase 2: Desarrollo del Proyecto</a:t>
            </a:r>
            <a:endParaRPr b="0" i="0" sz="1400" u="none" cap="none" strike="noStrike">
              <a:solidFill>
                <a:srgbClr val="000000"/>
              </a:solidFill>
              <a:latin typeface="Arial"/>
              <a:ea typeface="Arial"/>
              <a:cs typeface="Arial"/>
              <a:sym typeface="Arial"/>
            </a:endParaRPr>
          </a:p>
        </p:txBody>
      </p:sp>
      <p:sp>
        <p:nvSpPr>
          <p:cNvPr id="93" name="Google Shape;93;p1"/>
          <p:cNvSpPr txBox="1"/>
          <p:nvPr/>
        </p:nvSpPr>
        <p:spPr>
          <a:xfrm>
            <a:off x="979695" y="6946044"/>
            <a:ext cx="8053500" cy="12981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2219"/>
              <a:buFont typeface="Arial"/>
              <a:buNone/>
            </a:pPr>
            <a:r>
              <a:rPr b="0" i="0" lang="en-US" sz="2219" u="none" cap="none" strike="noStrike">
                <a:solidFill>
                  <a:srgbClr val="FFFFFF"/>
                </a:solidFill>
                <a:latin typeface="Arial"/>
                <a:ea typeface="Arial"/>
                <a:cs typeface="Arial"/>
                <a:sym typeface="Arial"/>
              </a:rPr>
              <a:t>Jean Villagra</a:t>
            </a:r>
            <a:endParaRPr/>
          </a:p>
          <a:p>
            <a:pPr indent="0" lvl="0" marL="0" marR="0" rtl="0" algn="l">
              <a:lnSpc>
                <a:spcPct val="140018"/>
              </a:lnSpc>
              <a:spcBef>
                <a:spcPts val="0"/>
              </a:spcBef>
              <a:spcAft>
                <a:spcPts val="0"/>
              </a:spcAft>
              <a:buClr>
                <a:srgbClr val="000000"/>
              </a:buClr>
              <a:buSzPts val="2219"/>
              <a:buFont typeface="Arial"/>
              <a:buNone/>
            </a:pPr>
            <a:r>
              <a:rPr b="0" i="0" lang="en-US" sz="2219" u="none" cap="none" strike="noStrike">
                <a:solidFill>
                  <a:srgbClr val="FFFFFF"/>
                </a:solidFill>
                <a:latin typeface="Arial"/>
                <a:ea typeface="Arial"/>
                <a:cs typeface="Arial"/>
                <a:sym typeface="Arial"/>
              </a:rPr>
              <a:t>Carlos Chartier</a:t>
            </a:r>
            <a:endParaRPr/>
          </a:p>
          <a:p>
            <a:pPr indent="0" lvl="0" marL="0" marR="0" rtl="0" algn="l">
              <a:lnSpc>
                <a:spcPct val="140018"/>
              </a:lnSpc>
              <a:spcBef>
                <a:spcPts val="0"/>
              </a:spcBef>
              <a:spcAft>
                <a:spcPts val="0"/>
              </a:spcAft>
              <a:buClr>
                <a:srgbClr val="000000"/>
              </a:buClr>
              <a:buSzPts val="2219"/>
              <a:buFont typeface="Arial"/>
              <a:buNone/>
            </a:pPr>
            <a:r>
              <a:rPr b="0" i="0" lang="en-US" sz="2219" u="none" cap="none" strike="noStrike">
                <a:solidFill>
                  <a:srgbClr val="FFFFFF"/>
                </a:solidFill>
                <a:latin typeface="Arial"/>
                <a:ea typeface="Arial"/>
                <a:cs typeface="Arial"/>
                <a:sym typeface="Arial"/>
              </a:rPr>
              <a:t>Katherine Jerez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2"/>
          <p:cNvGrpSpPr/>
          <p:nvPr/>
        </p:nvGrpSpPr>
        <p:grpSpPr>
          <a:xfrm>
            <a:off x="0" y="0"/>
            <a:ext cx="18288000" cy="10287000"/>
            <a:chOff x="0" y="0"/>
            <a:chExt cx="18288000" cy="10287000"/>
          </a:xfrm>
        </p:grpSpPr>
        <p:sp>
          <p:nvSpPr>
            <p:cNvPr id="99" name="Google Shape;99;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2"/>
            <p:cNvSpPr/>
            <p:nvPr/>
          </p:nvSpPr>
          <p:spPr>
            <a:xfrm>
              <a:off x="11769489" y="0"/>
              <a:ext cx="6518511" cy="10287000"/>
            </a:xfrm>
            <a:custGeom>
              <a:rect b="b" l="l" r="r" t="t"/>
              <a:pathLst>
                <a:path extrusionOk="0" h="3488176" w="2210335">
                  <a:moveTo>
                    <a:pt x="0" y="0"/>
                  </a:moveTo>
                  <a:lnTo>
                    <a:pt x="2210335" y="0"/>
                  </a:lnTo>
                  <a:lnTo>
                    <a:pt x="2210335" y="3488176"/>
                  </a:lnTo>
                  <a:lnTo>
                    <a:pt x="0" y="3488176"/>
                  </a:lnTo>
                  <a:close/>
                </a:path>
              </a:pathLst>
            </a:custGeom>
            <a:blipFill rotWithShape="1">
              <a:blip r:embed="rId4">
                <a:alphaModFix amt="82000"/>
              </a:blip>
              <a:stretch>
                <a:fillRect b="0" l="-3162" r="-3162"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101" name="Google Shape;101;p2"/>
          <p:cNvSpPr txBox="1"/>
          <p:nvPr/>
        </p:nvSpPr>
        <p:spPr>
          <a:xfrm>
            <a:off x="230883" y="880483"/>
            <a:ext cx="8074917" cy="1276503"/>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6381"/>
              <a:buFont typeface="Arial"/>
              <a:buNone/>
            </a:pPr>
            <a:r>
              <a:rPr b="1" i="0" lang="en-US" sz="6381" u="none" cap="none" strike="noStrike">
                <a:solidFill>
                  <a:srgbClr val="FFFFFF"/>
                </a:solidFill>
                <a:latin typeface="Arial"/>
                <a:ea typeface="Arial"/>
                <a:cs typeface="Arial"/>
                <a:sym typeface="Arial"/>
              </a:rPr>
              <a:t>Problema </a:t>
            </a:r>
            <a:r>
              <a:rPr b="1" i="0" lang="en-US" sz="6381" u="none" cap="none" strike="noStrike">
                <a:solidFill>
                  <a:srgbClr val="27CBB4"/>
                </a:solidFill>
                <a:latin typeface="Arial"/>
                <a:ea typeface="Arial"/>
                <a:cs typeface="Arial"/>
                <a:sym typeface="Arial"/>
              </a:rPr>
              <a:t>Actual</a:t>
            </a:r>
            <a:endParaRPr b="1" i="0" sz="1400" u="none" cap="none" strike="noStrike">
              <a:solidFill>
                <a:srgbClr val="27CBB4"/>
              </a:solidFill>
              <a:latin typeface="Arial"/>
              <a:ea typeface="Arial"/>
              <a:cs typeface="Arial"/>
              <a:sym typeface="Arial"/>
            </a:endParaRPr>
          </a:p>
        </p:txBody>
      </p:sp>
      <p:sp>
        <p:nvSpPr>
          <p:cNvPr id="102" name="Google Shape;102;p2"/>
          <p:cNvSpPr txBox="1"/>
          <p:nvPr/>
        </p:nvSpPr>
        <p:spPr>
          <a:xfrm>
            <a:off x="1131227" y="2156986"/>
            <a:ext cx="9081856" cy="40011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None/>
            </a:pPr>
            <a:r>
              <a:rPr b="0" i="0" lang="en-US" sz="2000" u="none" cap="none" strike="noStrike">
                <a:solidFill>
                  <a:schemeClr val="lt1"/>
                </a:solidFill>
                <a:latin typeface="Arial"/>
                <a:ea typeface="Arial"/>
                <a:cs typeface="Arial"/>
                <a:sym typeface="Arial"/>
              </a:rPr>
              <a:t>Las aplicaciones tradicionales no se adaptan a la realidad de cada usuario</a:t>
            </a:r>
            <a:endParaRPr b="0" i="0" sz="400" u="none" cap="none" strike="noStrike">
              <a:solidFill>
                <a:schemeClr val="lt1"/>
              </a:solidFill>
              <a:latin typeface="Arial"/>
              <a:ea typeface="Arial"/>
              <a:cs typeface="Arial"/>
              <a:sym typeface="Arial"/>
            </a:endParaRPr>
          </a:p>
        </p:txBody>
      </p:sp>
      <p:cxnSp>
        <p:nvCxnSpPr>
          <p:cNvPr id="103" name="Google Shape;103;p2"/>
          <p:cNvCxnSpPr/>
          <p:nvPr/>
        </p:nvCxnSpPr>
        <p:spPr>
          <a:xfrm>
            <a:off x="1131227" y="1984321"/>
            <a:ext cx="3636082" cy="0"/>
          </a:xfrm>
          <a:prstGeom prst="straightConnector1">
            <a:avLst/>
          </a:prstGeom>
          <a:noFill/>
          <a:ln cap="flat" cmpd="sng" w="38100">
            <a:solidFill>
              <a:srgbClr val="27CBB4"/>
            </a:solidFill>
            <a:prstDash val="solid"/>
            <a:round/>
            <a:headEnd len="sm" w="sm" type="none"/>
            <a:tailEnd len="sm" w="sm" type="none"/>
          </a:ln>
          <a:effectLst>
            <a:outerShdw blurRad="40000" rotWithShape="0" dir="5400000" dist="23000">
              <a:srgbClr val="000000">
                <a:alpha val="34901"/>
              </a:srgbClr>
            </a:outerShdw>
          </a:effectLst>
        </p:spPr>
      </p:cxnSp>
      <p:sp>
        <p:nvSpPr>
          <p:cNvPr id="104" name="Google Shape;104;p2"/>
          <p:cNvSpPr txBox="1"/>
          <p:nvPr/>
        </p:nvSpPr>
        <p:spPr>
          <a:xfrm>
            <a:off x="513606" y="6002496"/>
            <a:ext cx="3018409" cy="123110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Arial"/>
                <a:ea typeface="Arial"/>
                <a:cs typeface="Arial"/>
                <a:sym typeface="Arial"/>
              </a:rPr>
              <a:t>Planes iguales para todos los usuarios, sin considerar su contexto ni objetivos</a:t>
            </a:r>
            <a:endParaRPr b="0" i="0" sz="1200" u="none" cap="none" strike="noStrike">
              <a:solidFill>
                <a:srgbClr val="000000"/>
              </a:solidFill>
              <a:latin typeface="Arial"/>
              <a:ea typeface="Arial"/>
              <a:cs typeface="Arial"/>
              <a:sym typeface="Arial"/>
            </a:endParaRPr>
          </a:p>
        </p:txBody>
      </p:sp>
      <p:sp>
        <p:nvSpPr>
          <p:cNvPr id="105" name="Google Shape;105;p2"/>
          <p:cNvSpPr/>
          <p:nvPr/>
        </p:nvSpPr>
        <p:spPr>
          <a:xfrm>
            <a:off x="513607" y="2845140"/>
            <a:ext cx="3018408" cy="4765398"/>
          </a:xfrm>
          <a:prstGeom prst="roundRect">
            <a:avLst>
              <a:gd fmla="val 16667" name="adj"/>
            </a:avLst>
          </a:prstGeom>
          <a:no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 name="Google Shape;106;p2"/>
          <p:cNvSpPr txBox="1"/>
          <p:nvPr/>
        </p:nvSpPr>
        <p:spPr>
          <a:xfrm>
            <a:off x="4074882" y="6156640"/>
            <a:ext cx="2959115" cy="9233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Arial"/>
                <a:ea typeface="Arial"/>
                <a:cs typeface="Arial"/>
                <a:sym typeface="Arial"/>
              </a:rPr>
              <a:t>Los planes no se adaptan a la disponibilidad real de cada persona</a:t>
            </a:r>
            <a:endParaRPr b="0" i="0" sz="1200" u="none" cap="none" strike="noStrike">
              <a:solidFill>
                <a:srgbClr val="000000"/>
              </a:solidFill>
              <a:latin typeface="Arial"/>
              <a:ea typeface="Arial"/>
              <a:cs typeface="Arial"/>
              <a:sym typeface="Arial"/>
            </a:endParaRPr>
          </a:p>
        </p:txBody>
      </p:sp>
      <p:sp>
        <p:nvSpPr>
          <p:cNvPr id="107" name="Google Shape;107;p2"/>
          <p:cNvSpPr/>
          <p:nvPr/>
        </p:nvSpPr>
        <p:spPr>
          <a:xfrm>
            <a:off x="4045622" y="2870816"/>
            <a:ext cx="3018408" cy="4765398"/>
          </a:xfrm>
          <a:prstGeom prst="roundRect">
            <a:avLst>
              <a:gd fmla="val 16667" name="adj"/>
            </a:avLst>
          </a:prstGeom>
          <a:no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08" name="Google Shape;108;p2"/>
          <p:cNvPicPr preferRelativeResize="0"/>
          <p:nvPr/>
        </p:nvPicPr>
        <p:blipFill rotWithShape="1">
          <a:blip r:embed="rId5">
            <a:alphaModFix/>
          </a:blip>
          <a:srcRect b="13907" l="20566" r="20606" t="6704"/>
          <a:stretch/>
        </p:blipFill>
        <p:spPr>
          <a:xfrm>
            <a:off x="4384440" y="2779050"/>
            <a:ext cx="2340000" cy="2404988"/>
          </a:xfrm>
          <a:prstGeom prst="rect">
            <a:avLst/>
          </a:prstGeom>
          <a:noFill/>
          <a:ln>
            <a:noFill/>
          </a:ln>
        </p:spPr>
      </p:pic>
      <p:sp>
        <p:nvSpPr>
          <p:cNvPr id="109" name="Google Shape;109;p2"/>
          <p:cNvSpPr txBox="1"/>
          <p:nvPr/>
        </p:nvSpPr>
        <p:spPr>
          <a:xfrm>
            <a:off x="7720495" y="6156640"/>
            <a:ext cx="2916645" cy="123110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Arial"/>
                <a:ea typeface="Arial"/>
                <a:cs typeface="Arial"/>
                <a:sym typeface="Arial"/>
              </a:rPr>
              <a:t>Falta de adaptación y guía provoca frustración y alto abandono del entrenamiento</a:t>
            </a:r>
            <a:endParaRPr b="0" i="0" sz="1200" u="none" cap="none" strike="noStrike">
              <a:solidFill>
                <a:srgbClr val="000000"/>
              </a:solidFill>
              <a:latin typeface="Arial"/>
              <a:ea typeface="Arial"/>
              <a:cs typeface="Arial"/>
              <a:sym typeface="Arial"/>
            </a:endParaRPr>
          </a:p>
        </p:txBody>
      </p:sp>
      <p:sp>
        <p:nvSpPr>
          <p:cNvPr id="110" name="Google Shape;110;p2"/>
          <p:cNvSpPr/>
          <p:nvPr/>
        </p:nvSpPr>
        <p:spPr>
          <a:xfrm>
            <a:off x="7691955" y="2825725"/>
            <a:ext cx="3018408" cy="4765398"/>
          </a:xfrm>
          <a:prstGeom prst="roundRect">
            <a:avLst>
              <a:gd fmla="val 16667" name="adj"/>
            </a:avLst>
          </a:prstGeom>
          <a:no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11" name="Google Shape;111;p2"/>
          <p:cNvPicPr preferRelativeResize="0"/>
          <p:nvPr/>
        </p:nvPicPr>
        <p:blipFill rotWithShape="1">
          <a:blip r:embed="rId6">
            <a:alphaModFix/>
          </a:blip>
          <a:srcRect b="0" l="0" r="0" t="0"/>
          <a:stretch/>
        </p:blipFill>
        <p:spPr>
          <a:xfrm>
            <a:off x="7577637" y="2564465"/>
            <a:ext cx="3009618" cy="3009618"/>
          </a:xfrm>
          <a:prstGeom prst="rect">
            <a:avLst/>
          </a:prstGeom>
          <a:noFill/>
          <a:ln>
            <a:noFill/>
          </a:ln>
        </p:spPr>
      </p:pic>
      <p:sp>
        <p:nvSpPr>
          <p:cNvPr id="112" name="Google Shape;112;p2"/>
          <p:cNvSpPr/>
          <p:nvPr/>
        </p:nvSpPr>
        <p:spPr>
          <a:xfrm>
            <a:off x="11223970" y="2933917"/>
            <a:ext cx="3018408" cy="4765398"/>
          </a:xfrm>
          <a:prstGeom prst="roundRect">
            <a:avLst>
              <a:gd fmla="val 16667" name="adj"/>
            </a:avLst>
          </a:prstGeom>
          <a:no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13" name="Google Shape;113;p2"/>
          <p:cNvPicPr preferRelativeResize="0"/>
          <p:nvPr/>
        </p:nvPicPr>
        <p:blipFill rotWithShape="1">
          <a:blip r:embed="rId7">
            <a:alphaModFix/>
          </a:blip>
          <a:srcRect b="14999" l="25051" r="22625" t="9858"/>
          <a:stretch/>
        </p:blipFill>
        <p:spPr>
          <a:xfrm>
            <a:off x="11514023" y="2706673"/>
            <a:ext cx="2448000" cy="2343704"/>
          </a:xfrm>
          <a:prstGeom prst="rect">
            <a:avLst/>
          </a:prstGeom>
          <a:noFill/>
          <a:ln>
            <a:noFill/>
          </a:ln>
        </p:spPr>
      </p:pic>
      <p:sp>
        <p:nvSpPr>
          <p:cNvPr id="114" name="Google Shape;114;p2"/>
          <p:cNvSpPr txBox="1"/>
          <p:nvPr/>
        </p:nvSpPr>
        <p:spPr>
          <a:xfrm>
            <a:off x="11303428" y="6168377"/>
            <a:ext cx="2880000" cy="9233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Arial"/>
                <a:ea typeface="Arial"/>
                <a:cs typeface="Arial"/>
                <a:sym typeface="Arial"/>
              </a:rPr>
              <a:t>No saben como ajustar ejercicios, remplazarlos o resolver dudas</a:t>
            </a:r>
            <a:endParaRPr b="0" i="0" sz="1200" u="none" cap="none" strike="noStrike">
              <a:solidFill>
                <a:srgbClr val="000000"/>
              </a:solidFill>
              <a:latin typeface="Arial"/>
              <a:ea typeface="Arial"/>
              <a:cs typeface="Arial"/>
              <a:sym typeface="Arial"/>
            </a:endParaRPr>
          </a:p>
        </p:txBody>
      </p:sp>
      <p:sp>
        <p:nvSpPr>
          <p:cNvPr id="115" name="Google Shape;115;p2"/>
          <p:cNvSpPr/>
          <p:nvPr/>
        </p:nvSpPr>
        <p:spPr>
          <a:xfrm>
            <a:off x="14755985" y="2933917"/>
            <a:ext cx="3018408" cy="4765398"/>
          </a:xfrm>
          <a:prstGeom prst="roundRect">
            <a:avLst>
              <a:gd fmla="val 16667" name="adj"/>
            </a:avLst>
          </a:prstGeom>
          <a:no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6" name="Google Shape;116;p2"/>
          <p:cNvSpPr txBox="1"/>
          <p:nvPr/>
        </p:nvSpPr>
        <p:spPr>
          <a:xfrm>
            <a:off x="14789051" y="6144903"/>
            <a:ext cx="2943084" cy="153888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Arial"/>
                <a:ea typeface="Arial"/>
                <a:cs typeface="Arial"/>
                <a:sym typeface="Arial"/>
              </a:rPr>
              <a:t>Las rutinas no evolucionan con el progreso del usuario, provocando estancamiento</a:t>
            </a:r>
            <a:endParaRPr b="0" i="0" sz="1200" u="none" cap="none" strike="noStrike">
              <a:solidFill>
                <a:srgbClr val="000000"/>
              </a:solidFill>
              <a:latin typeface="Arial"/>
              <a:ea typeface="Arial"/>
              <a:cs typeface="Arial"/>
              <a:sym typeface="Arial"/>
            </a:endParaRPr>
          </a:p>
        </p:txBody>
      </p:sp>
      <p:pic>
        <p:nvPicPr>
          <p:cNvPr id="117" name="Google Shape;117;p2"/>
          <p:cNvPicPr preferRelativeResize="0"/>
          <p:nvPr/>
        </p:nvPicPr>
        <p:blipFill rotWithShape="1">
          <a:blip r:embed="rId8">
            <a:alphaModFix/>
          </a:blip>
          <a:srcRect b="33178" l="27955" r="28230" t="0"/>
          <a:stretch/>
        </p:blipFill>
        <p:spPr>
          <a:xfrm>
            <a:off x="14976030" y="2399871"/>
            <a:ext cx="2653641" cy="2698063"/>
          </a:xfrm>
          <a:prstGeom prst="rect">
            <a:avLst/>
          </a:prstGeom>
          <a:noFill/>
          <a:ln>
            <a:noFill/>
          </a:ln>
        </p:spPr>
      </p:pic>
      <p:sp>
        <p:nvSpPr>
          <p:cNvPr id="118" name="Google Shape;118;p2"/>
          <p:cNvSpPr txBox="1"/>
          <p:nvPr/>
        </p:nvSpPr>
        <p:spPr>
          <a:xfrm>
            <a:off x="755586" y="5065102"/>
            <a:ext cx="2526243" cy="430887"/>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Rutinas Genéricas</a:t>
            </a:r>
            <a:endParaRPr b="1" i="0" sz="2000" u="none" cap="none" strike="noStrike">
              <a:solidFill>
                <a:schemeClr val="lt1"/>
              </a:solidFill>
              <a:latin typeface="Arial"/>
              <a:ea typeface="Arial"/>
              <a:cs typeface="Arial"/>
              <a:sym typeface="Arial"/>
            </a:endParaRPr>
          </a:p>
        </p:txBody>
      </p:sp>
      <p:pic>
        <p:nvPicPr>
          <p:cNvPr id="119" name="Google Shape;119;p2"/>
          <p:cNvPicPr preferRelativeResize="0"/>
          <p:nvPr/>
        </p:nvPicPr>
        <p:blipFill rotWithShape="1">
          <a:blip r:embed="rId9">
            <a:alphaModFix/>
          </a:blip>
          <a:srcRect b="16766" l="13745" r="12546" t="8531"/>
          <a:stretch/>
        </p:blipFill>
        <p:spPr>
          <a:xfrm>
            <a:off x="952499" y="2845140"/>
            <a:ext cx="2175879" cy="2205237"/>
          </a:xfrm>
          <a:prstGeom prst="rect">
            <a:avLst/>
          </a:prstGeom>
          <a:noFill/>
          <a:ln>
            <a:noFill/>
          </a:ln>
        </p:spPr>
      </p:pic>
      <p:cxnSp>
        <p:nvCxnSpPr>
          <p:cNvPr id="120" name="Google Shape;120;p2"/>
          <p:cNvCxnSpPr/>
          <p:nvPr/>
        </p:nvCxnSpPr>
        <p:spPr>
          <a:xfrm>
            <a:off x="1069083" y="5574083"/>
            <a:ext cx="1800000" cy="0"/>
          </a:xfrm>
          <a:prstGeom prst="straightConnector1">
            <a:avLst/>
          </a:prstGeom>
          <a:noFill/>
          <a:ln cap="flat" cmpd="sng" w="38100">
            <a:solidFill>
              <a:srgbClr val="27CBB4"/>
            </a:solidFill>
            <a:prstDash val="solid"/>
            <a:round/>
            <a:headEnd len="sm" w="sm" type="none"/>
            <a:tailEnd len="sm" w="sm" type="none"/>
          </a:ln>
          <a:effectLst>
            <a:outerShdw blurRad="40000" rotWithShape="0" dir="5400000" dist="23000">
              <a:srgbClr val="000000">
                <a:alpha val="34901"/>
              </a:srgbClr>
            </a:outerShdw>
          </a:effectLst>
        </p:spPr>
      </p:cxnSp>
      <p:sp>
        <p:nvSpPr>
          <p:cNvPr id="121" name="Google Shape;121;p2"/>
          <p:cNvSpPr txBox="1"/>
          <p:nvPr/>
        </p:nvSpPr>
        <p:spPr>
          <a:xfrm>
            <a:off x="15090711" y="5217502"/>
            <a:ext cx="2526243" cy="430887"/>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Experiencia Estática</a:t>
            </a:r>
            <a:endParaRPr b="1" i="0" sz="2000" u="none" cap="none" strike="noStrike">
              <a:solidFill>
                <a:schemeClr val="lt1"/>
              </a:solidFill>
              <a:latin typeface="Arial"/>
              <a:ea typeface="Arial"/>
              <a:cs typeface="Arial"/>
              <a:sym typeface="Arial"/>
            </a:endParaRPr>
          </a:p>
        </p:txBody>
      </p:sp>
      <p:cxnSp>
        <p:nvCxnSpPr>
          <p:cNvPr id="122" name="Google Shape;122;p2"/>
          <p:cNvCxnSpPr/>
          <p:nvPr/>
        </p:nvCxnSpPr>
        <p:spPr>
          <a:xfrm>
            <a:off x="15404208" y="5726483"/>
            <a:ext cx="1800000" cy="0"/>
          </a:xfrm>
          <a:prstGeom prst="straightConnector1">
            <a:avLst/>
          </a:prstGeom>
          <a:noFill/>
          <a:ln cap="flat" cmpd="sng" w="38100">
            <a:solidFill>
              <a:srgbClr val="27CBB4"/>
            </a:solidFill>
            <a:prstDash val="solid"/>
            <a:round/>
            <a:headEnd len="sm" w="sm" type="none"/>
            <a:tailEnd len="sm" w="sm" type="none"/>
          </a:ln>
          <a:effectLst>
            <a:outerShdw blurRad="40000" rotWithShape="0" dir="5400000" dist="23000">
              <a:srgbClr val="000000">
                <a:alpha val="34901"/>
              </a:srgbClr>
            </a:outerShdw>
          </a:effectLst>
        </p:spPr>
      </p:cxnSp>
      <p:sp>
        <p:nvSpPr>
          <p:cNvPr id="123" name="Google Shape;123;p2"/>
          <p:cNvSpPr txBox="1"/>
          <p:nvPr/>
        </p:nvSpPr>
        <p:spPr>
          <a:xfrm>
            <a:off x="11499786" y="5169877"/>
            <a:ext cx="2526243" cy="430887"/>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Falta de Guía</a:t>
            </a:r>
            <a:endParaRPr b="1" i="0" sz="2000" u="none" cap="none" strike="noStrike">
              <a:solidFill>
                <a:schemeClr val="lt1"/>
              </a:solidFill>
              <a:latin typeface="Arial"/>
              <a:ea typeface="Arial"/>
              <a:cs typeface="Arial"/>
              <a:sym typeface="Arial"/>
            </a:endParaRPr>
          </a:p>
        </p:txBody>
      </p:sp>
      <p:cxnSp>
        <p:nvCxnSpPr>
          <p:cNvPr id="124" name="Google Shape;124;p2"/>
          <p:cNvCxnSpPr/>
          <p:nvPr/>
        </p:nvCxnSpPr>
        <p:spPr>
          <a:xfrm>
            <a:off x="11813283" y="5678858"/>
            <a:ext cx="1800000" cy="0"/>
          </a:xfrm>
          <a:prstGeom prst="straightConnector1">
            <a:avLst/>
          </a:prstGeom>
          <a:noFill/>
          <a:ln cap="flat" cmpd="sng" w="38100">
            <a:solidFill>
              <a:srgbClr val="27CBB4"/>
            </a:solidFill>
            <a:prstDash val="solid"/>
            <a:round/>
            <a:headEnd len="sm" w="sm" type="none"/>
            <a:tailEnd len="sm" w="sm" type="none"/>
          </a:ln>
          <a:effectLst>
            <a:outerShdw blurRad="40000" rotWithShape="0" dir="5400000" dist="23000">
              <a:srgbClr val="000000">
                <a:alpha val="34901"/>
              </a:srgbClr>
            </a:outerShdw>
          </a:effectLst>
        </p:spPr>
      </p:cxnSp>
      <p:sp>
        <p:nvSpPr>
          <p:cNvPr id="125" name="Google Shape;125;p2"/>
          <p:cNvSpPr txBox="1"/>
          <p:nvPr/>
        </p:nvSpPr>
        <p:spPr>
          <a:xfrm>
            <a:off x="7712253" y="5097934"/>
            <a:ext cx="2989320" cy="430887"/>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Perdida de Constancia</a:t>
            </a:r>
            <a:endParaRPr b="1" i="0" sz="2000" u="none" cap="none" strike="noStrike">
              <a:solidFill>
                <a:schemeClr val="lt1"/>
              </a:solidFill>
              <a:latin typeface="Arial"/>
              <a:ea typeface="Arial"/>
              <a:cs typeface="Arial"/>
              <a:sym typeface="Arial"/>
            </a:endParaRPr>
          </a:p>
        </p:txBody>
      </p:sp>
      <p:cxnSp>
        <p:nvCxnSpPr>
          <p:cNvPr id="126" name="Google Shape;126;p2"/>
          <p:cNvCxnSpPr/>
          <p:nvPr/>
        </p:nvCxnSpPr>
        <p:spPr>
          <a:xfrm>
            <a:off x="8317810" y="5606915"/>
            <a:ext cx="1800000" cy="0"/>
          </a:xfrm>
          <a:prstGeom prst="straightConnector1">
            <a:avLst/>
          </a:prstGeom>
          <a:noFill/>
          <a:ln cap="flat" cmpd="sng" w="38100">
            <a:solidFill>
              <a:srgbClr val="27CBB4"/>
            </a:solidFill>
            <a:prstDash val="solid"/>
            <a:round/>
            <a:headEnd len="sm" w="sm" type="none"/>
            <a:tailEnd len="sm" w="sm" type="none"/>
          </a:ln>
          <a:effectLst>
            <a:outerShdw blurRad="40000" rotWithShape="0" dir="5400000" dist="23000">
              <a:srgbClr val="000000">
                <a:alpha val="34901"/>
              </a:srgbClr>
            </a:outerShdw>
          </a:effectLst>
        </p:spPr>
      </p:cxnSp>
      <p:sp>
        <p:nvSpPr>
          <p:cNvPr id="127" name="Google Shape;127;p2"/>
          <p:cNvSpPr txBox="1"/>
          <p:nvPr/>
        </p:nvSpPr>
        <p:spPr>
          <a:xfrm>
            <a:off x="4295836" y="5091415"/>
            <a:ext cx="2526243" cy="430887"/>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Falta de Tiempo</a:t>
            </a:r>
            <a:endParaRPr b="1" i="0" sz="2000" u="none" cap="none" strike="noStrike">
              <a:solidFill>
                <a:schemeClr val="lt1"/>
              </a:solidFill>
              <a:latin typeface="Arial"/>
              <a:ea typeface="Arial"/>
              <a:cs typeface="Arial"/>
              <a:sym typeface="Arial"/>
            </a:endParaRPr>
          </a:p>
        </p:txBody>
      </p:sp>
      <p:cxnSp>
        <p:nvCxnSpPr>
          <p:cNvPr id="128" name="Google Shape;128;p2"/>
          <p:cNvCxnSpPr/>
          <p:nvPr/>
        </p:nvCxnSpPr>
        <p:spPr>
          <a:xfrm>
            <a:off x="4609333" y="5600396"/>
            <a:ext cx="1800000" cy="0"/>
          </a:xfrm>
          <a:prstGeom prst="straightConnector1">
            <a:avLst/>
          </a:prstGeom>
          <a:noFill/>
          <a:ln cap="flat" cmpd="sng" w="38100">
            <a:solidFill>
              <a:srgbClr val="27CBB4"/>
            </a:solidFill>
            <a:prstDash val="solid"/>
            <a:round/>
            <a:headEnd len="sm" w="sm" type="none"/>
            <a:tailEnd len="sm" w="sm" type="none"/>
          </a:ln>
          <a:effectLst>
            <a:outerShdw blurRad="40000" rotWithShape="0" dir="5400000" dist="23000">
              <a:srgbClr val="000000">
                <a:alpha val="34901"/>
              </a:srgbClr>
            </a:outerShdw>
          </a:effectLst>
        </p:spPr>
      </p:cxnSp>
      <p:sp>
        <p:nvSpPr>
          <p:cNvPr id="129" name="Google Shape;129;p2"/>
          <p:cNvSpPr/>
          <p:nvPr/>
        </p:nvSpPr>
        <p:spPr>
          <a:xfrm flipH="1" rot="10800000">
            <a:off x="666007" y="7905811"/>
            <a:ext cx="17108386" cy="2013465"/>
          </a:xfrm>
          <a:prstGeom prst="roundRect">
            <a:avLst>
              <a:gd fmla="val 16667" name="adj"/>
            </a:avLst>
          </a:prstGeom>
          <a:no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0" name="Google Shape;130;p2"/>
          <p:cNvSpPr txBox="1"/>
          <p:nvPr/>
        </p:nvSpPr>
        <p:spPr>
          <a:xfrm>
            <a:off x="3477459" y="8686177"/>
            <a:ext cx="530601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De usuarios abandona las apps de fitnes durante los primeros 3 meses</a:t>
            </a:r>
            <a:endParaRPr b="1" i="0" sz="1200" u="none" cap="none" strike="noStrike">
              <a:solidFill>
                <a:srgbClr val="000000"/>
              </a:solidFill>
              <a:latin typeface="Arial"/>
              <a:ea typeface="Arial"/>
              <a:cs typeface="Arial"/>
              <a:sym typeface="Arial"/>
            </a:endParaRPr>
          </a:p>
        </p:txBody>
      </p:sp>
      <p:pic>
        <p:nvPicPr>
          <p:cNvPr id="131" name="Google Shape;131;p2"/>
          <p:cNvPicPr preferRelativeResize="0"/>
          <p:nvPr/>
        </p:nvPicPr>
        <p:blipFill rotWithShape="1">
          <a:blip r:embed="rId10">
            <a:alphaModFix/>
          </a:blip>
          <a:srcRect b="0" l="0" r="0" t="0"/>
          <a:stretch/>
        </p:blipFill>
        <p:spPr>
          <a:xfrm>
            <a:off x="1017529" y="7814769"/>
            <a:ext cx="2268000" cy="2268000"/>
          </a:xfrm>
          <a:prstGeom prst="rect">
            <a:avLst/>
          </a:prstGeom>
          <a:noFill/>
          <a:ln>
            <a:noFill/>
          </a:ln>
        </p:spPr>
      </p:pic>
      <p:sp>
        <p:nvSpPr>
          <p:cNvPr id="132" name="Google Shape;132;p2"/>
          <p:cNvSpPr txBox="1"/>
          <p:nvPr/>
        </p:nvSpPr>
        <p:spPr>
          <a:xfrm>
            <a:off x="12005602" y="8604766"/>
            <a:ext cx="530601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Necesitamos una solución que </a:t>
            </a:r>
            <a:r>
              <a:rPr b="1" i="0" lang="en-US" sz="2000" u="none" cap="none" strike="noStrike">
                <a:solidFill>
                  <a:srgbClr val="27CBB4"/>
                </a:solidFill>
                <a:latin typeface="Arial"/>
                <a:ea typeface="Arial"/>
                <a:cs typeface="Arial"/>
                <a:sym typeface="Arial"/>
              </a:rPr>
              <a:t>se adapte a las personas, </a:t>
            </a:r>
            <a:r>
              <a:rPr b="1" i="0" lang="en-US" sz="2000" u="none" cap="none" strike="noStrike">
                <a:solidFill>
                  <a:srgbClr val="FFFFFF"/>
                </a:solidFill>
                <a:latin typeface="Arial"/>
                <a:ea typeface="Arial"/>
                <a:cs typeface="Arial"/>
                <a:sym typeface="Arial"/>
              </a:rPr>
              <a:t>no al revés</a:t>
            </a:r>
            <a:endParaRPr b="1" i="0" sz="1200" u="none" cap="none" strike="noStrike">
              <a:solidFill>
                <a:srgbClr val="000000"/>
              </a:solidFill>
              <a:latin typeface="Arial"/>
              <a:ea typeface="Arial"/>
              <a:cs typeface="Arial"/>
              <a:sym typeface="Arial"/>
            </a:endParaRPr>
          </a:p>
        </p:txBody>
      </p:sp>
      <p:pic>
        <p:nvPicPr>
          <p:cNvPr id="133" name="Google Shape;133;p2"/>
          <p:cNvPicPr preferRelativeResize="0"/>
          <p:nvPr/>
        </p:nvPicPr>
        <p:blipFill rotWithShape="1">
          <a:blip r:embed="rId11">
            <a:alphaModFix/>
          </a:blip>
          <a:srcRect b="0" l="0" r="0" t="0"/>
          <a:stretch/>
        </p:blipFill>
        <p:spPr>
          <a:xfrm>
            <a:off x="9875232" y="8263332"/>
            <a:ext cx="2520000" cy="1260000"/>
          </a:xfrm>
          <a:prstGeom prst="rect">
            <a:avLst/>
          </a:prstGeom>
          <a:noFill/>
          <a:ln>
            <a:noFill/>
          </a:ln>
        </p:spPr>
      </p:pic>
      <p:cxnSp>
        <p:nvCxnSpPr>
          <p:cNvPr id="134" name="Google Shape;134;p2"/>
          <p:cNvCxnSpPr/>
          <p:nvPr/>
        </p:nvCxnSpPr>
        <p:spPr>
          <a:xfrm>
            <a:off x="9484380" y="8416141"/>
            <a:ext cx="0" cy="1065255"/>
          </a:xfrm>
          <a:prstGeom prst="straightConnector1">
            <a:avLst/>
          </a:prstGeom>
          <a:noFill/>
          <a:ln cap="flat" cmpd="sng" w="38100">
            <a:solidFill>
              <a:srgbClr val="37B8A8">
                <a:alpha val="50196"/>
              </a:srgbClr>
            </a:solidFill>
            <a:prstDash val="solid"/>
            <a:round/>
            <a:headEnd len="sm" w="sm" type="none"/>
            <a:tailEnd len="sm" w="sm" type="none"/>
          </a:ln>
          <a:effectLst>
            <a:outerShdw blurRad="40000" rotWithShape="0" dir="5400000" dist="23000">
              <a:srgbClr val="000000">
                <a:alpha val="34901"/>
              </a:srgbClr>
            </a:outerShdw>
          </a:effectLst>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grpSp>
        <p:nvGrpSpPr>
          <p:cNvPr id="139" name="Google Shape;139;p3"/>
          <p:cNvGrpSpPr/>
          <p:nvPr/>
        </p:nvGrpSpPr>
        <p:grpSpPr>
          <a:xfrm>
            <a:off x="0" y="119078"/>
            <a:ext cx="18288000" cy="10287000"/>
            <a:chOff x="0" y="0"/>
            <a:chExt cx="18288000" cy="10287000"/>
          </a:xfrm>
        </p:grpSpPr>
        <p:sp>
          <p:nvSpPr>
            <p:cNvPr id="140" name="Google Shape;140;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 name="Google Shape;141;p3"/>
            <p:cNvSpPr/>
            <p:nvPr/>
          </p:nvSpPr>
          <p:spPr>
            <a:xfrm>
              <a:off x="5170966" y="2458933"/>
              <a:ext cx="8727066" cy="6947584"/>
            </a:xfrm>
            <a:custGeom>
              <a:rect b="b" l="l" r="r" t="t"/>
              <a:pathLst>
                <a:path extrusionOk="0" h="2355827" w="2959224">
                  <a:moveTo>
                    <a:pt x="12420" y="0"/>
                  </a:moveTo>
                  <a:lnTo>
                    <a:pt x="2946805" y="0"/>
                  </a:lnTo>
                  <a:cubicBezTo>
                    <a:pt x="2953664" y="0"/>
                    <a:pt x="2959224" y="5560"/>
                    <a:pt x="2959224" y="12420"/>
                  </a:cubicBezTo>
                  <a:lnTo>
                    <a:pt x="2959224" y="2343408"/>
                  </a:lnTo>
                  <a:cubicBezTo>
                    <a:pt x="2959224" y="2350267"/>
                    <a:pt x="2953664" y="2355827"/>
                    <a:pt x="2946805" y="2355827"/>
                  </a:cubicBezTo>
                  <a:lnTo>
                    <a:pt x="12420" y="2355827"/>
                  </a:lnTo>
                  <a:cubicBezTo>
                    <a:pt x="5560" y="2355827"/>
                    <a:pt x="0" y="2350267"/>
                    <a:pt x="0" y="2343408"/>
                  </a:cubicBezTo>
                  <a:lnTo>
                    <a:pt x="0" y="12420"/>
                  </a:lnTo>
                  <a:cubicBezTo>
                    <a:pt x="0" y="5560"/>
                    <a:pt x="5560" y="0"/>
                    <a:pt x="12420" y="0"/>
                  </a:cubicBezTo>
                  <a:close/>
                </a:path>
              </a:pathLst>
            </a:custGeom>
            <a:blipFill rotWithShape="1">
              <a:blip r:embed="rId4">
                <a:alphaModFix amt="50000"/>
              </a:blip>
              <a:stretch>
                <a:fillRect b="-794" l="0" r="0" t="-794"/>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2" name="Google Shape;142;p3"/>
          <p:cNvSpPr/>
          <p:nvPr/>
        </p:nvSpPr>
        <p:spPr>
          <a:xfrm rot="-1812697">
            <a:off x="-55501" y="7083770"/>
            <a:ext cx="4114040" cy="3075587"/>
          </a:xfrm>
          <a:custGeom>
            <a:rect b="b" l="l" r="r" t="t"/>
            <a:pathLst>
              <a:path extrusionOk="0" h="1490936" w="1631773">
                <a:moveTo>
                  <a:pt x="0" y="0"/>
                </a:moveTo>
                <a:lnTo>
                  <a:pt x="1631773" y="0"/>
                </a:lnTo>
                <a:lnTo>
                  <a:pt x="1631773" y="1490936"/>
                </a:lnTo>
                <a:lnTo>
                  <a:pt x="0" y="1490936"/>
                </a:lnTo>
                <a:lnTo>
                  <a:pt x="0" y="0"/>
                </a:lnTo>
                <a:close/>
              </a:path>
            </a:pathLst>
          </a:custGeom>
          <a:blipFill rotWithShape="1">
            <a:blip r:embed="rId5">
              <a:alphaModFix amt="2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 name="Google Shape;143;p3"/>
          <p:cNvSpPr txBox="1"/>
          <p:nvPr/>
        </p:nvSpPr>
        <p:spPr>
          <a:xfrm>
            <a:off x="825688" y="880483"/>
            <a:ext cx="8074917" cy="1276503"/>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6381"/>
              <a:buFont typeface="Arial"/>
              <a:buNone/>
            </a:pPr>
            <a:r>
              <a:rPr b="1" i="0" lang="en-US" sz="6381" u="none" cap="none" strike="noStrike">
                <a:solidFill>
                  <a:srgbClr val="006FB4"/>
                </a:solidFill>
                <a:latin typeface="Arial"/>
                <a:ea typeface="Arial"/>
                <a:cs typeface="Arial"/>
                <a:sym typeface="Arial"/>
              </a:rPr>
              <a:t>Solución</a:t>
            </a:r>
            <a:r>
              <a:rPr b="1" i="0" lang="en-US" sz="6381" u="none" cap="none" strike="noStrike">
                <a:solidFill>
                  <a:srgbClr val="FFFFFF"/>
                </a:solidFill>
                <a:latin typeface="Arial"/>
                <a:ea typeface="Arial"/>
                <a:cs typeface="Arial"/>
                <a:sym typeface="Arial"/>
              </a:rPr>
              <a:t> Propuesta</a:t>
            </a:r>
            <a:endParaRPr b="1" i="0" sz="1400" u="none" cap="none" strike="noStrike">
              <a:solidFill>
                <a:srgbClr val="27CBB4"/>
              </a:solidFill>
              <a:latin typeface="Arial"/>
              <a:ea typeface="Arial"/>
              <a:cs typeface="Arial"/>
              <a:sym typeface="Arial"/>
            </a:endParaRPr>
          </a:p>
        </p:txBody>
      </p:sp>
      <p:cxnSp>
        <p:nvCxnSpPr>
          <p:cNvPr id="144" name="Google Shape;144;p3"/>
          <p:cNvCxnSpPr/>
          <p:nvPr/>
        </p:nvCxnSpPr>
        <p:spPr>
          <a:xfrm>
            <a:off x="1131227" y="1984321"/>
            <a:ext cx="3636082" cy="0"/>
          </a:xfrm>
          <a:prstGeom prst="straightConnector1">
            <a:avLst/>
          </a:prstGeom>
          <a:noFill/>
          <a:ln cap="flat" cmpd="sng" w="38100">
            <a:solidFill>
              <a:srgbClr val="006FB4"/>
            </a:solidFill>
            <a:prstDash val="solid"/>
            <a:round/>
            <a:headEnd len="sm" w="sm" type="none"/>
            <a:tailEnd len="sm" w="sm" type="none"/>
          </a:ln>
          <a:effectLst>
            <a:outerShdw blurRad="40000" rotWithShape="0" dir="5400000" dist="23000">
              <a:srgbClr val="000000">
                <a:alpha val="34901"/>
              </a:srgbClr>
            </a:outerShdw>
          </a:effectLst>
        </p:spPr>
      </p:cxnSp>
      <p:sp>
        <p:nvSpPr>
          <p:cNvPr id="145" name="Google Shape;145;p3"/>
          <p:cNvSpPr txBox="1"/>
          <p:nvPr/>
        </p:nvSpPr>
        <p:spPr>
          <a:xfrm>
            <a:off x="1089909" y="2098016"/>
            <a:ext cx="7354800" cy="1015663"/>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1200"/>
              </a:spcBef>
              <a:spcAft>
                <a:spcPts val="0"/>
              </a:spcAft>
              <a:buNone/>
            </a:pPr>
            <a:r>
              <a:rPr b="0" i="0" lang="en-US" sz="2000" u="none" cap="none" strike="noStrike">
                <a:solidFill>
                  <a:schemeClr val="lt1"/>
                </a:solidFill>
                <a:latin typeface="Arial"/>
                <a:ea typeface="Arial"/>
                <a:cs typeface="Arial"/>
                <a:sym typeface="Arial"/>
              </a:rPr>
              <a:t>FitAi genera planes de entrenamiento </a:t>
            </a:r>
            <a:r>
              <a:rPr b="1" i="0" lang="en-US" sz="2000" u="none" cap="none" strike="noStrike">
                <a:solidFill>
                  <a:srgbClr val="006FB4"/>
                </a:solidFill>
                <a:latin typeface="Arial"/>
                <a:ea typeface="Arial"/>
                <a:cs typeface="Arial"/>
                <a:sym typeface="Arial"/>
              </a:rPr>
              <a:t>personalizados</a:t>
            </a:r>
            <a:r>
              <a:rPr b="0" i="0" lang="en-US" sz="2000" u="none" cap="none" strike="noStrike">
                <a:solidFill>
                  <a:schemeClr val="lt1"/>
                </a:solidFill>
                <a:latin typeface="Arial"/>
                <a:ea typeface="Arial"/>
                <a:cs typeface="Arial"/>
                <a:sym typeface="Arial"/>
              </a:rPr>
              <a:t> que se </a:t>
            </a:r>
            <a:r>
              <a:rPr b="1" i="0" lang="en-US" sz="2000" u="none" cap="none" strike="noStrike">
                <a:solidFill>
                  <a:srgbClr val="37B8A8"/>
                </a:solidFill>
                <a:latin typeface="Arial"/>
                <a:ea typeface="Arial"/>
                <a:cs typeface="Arial"/>
                <a:sym typeface="Arial"/>
              </a:rPr>
              <a:t>adaptan</a:t>
            </a:r>
            <a:r>
              <a:rPr b="0" i="0" lang="en-US" sz="2000" u="none" cap="none" strike="noStrike">
                <a:solidFill>
                  <a:schemeClr val="lt1"/>
                </a:solidFill>
                <a:latin typeface="Arial"/>
                <a:ea typeface="Arial"/>
                <a:cs typeface="Arial"/>
                <a:sym typeface="Arial"/>
              </a:rPr>
              <a:t> al usuario y evolución con su </a:t>
            </a:r>
            <a:r>
              <a:rPr b="1" i="0" lang="en-US" sz="2000" u="none" cap="none" strike="noStrike">
                <a:solidFill>
                  <a:schemeClr val="accent1"/>
                </a:solidFill>
                <a:latin typeface="Arial"/>
                <a:ea typeface="Arial"/>
                <a:cs typeface="Arial"/>
                <a:sym typeface="Arial"/>
              </a:rPr>
              <a:t>progreso</a:t>
            </a:r>
            <a:endParaRPr/>
          </a:p>
        </p:txBody>
      </p:sp>
      <p:sp>
        <p:nvSpPr>
          <p:cNvPr id="146" name="Google Shape;146;p3"/>
          <p:cNvSpPr/>
          <p:nvPr/>
        </p:nvSpPr>
        <p:spPr>
          <a:xfrm>
            <a:off x="12576628" y="3556531"/>
            <a:ext cx="4557485" cy="4745594"/>
          </a:xfrm>
          <a:prstGeom prst="roundRect">
            <a:avLst>
              <a:gd fmla="val 16667" name="adj"/>
            </a:avLst>
          </a:prstGeom>
          <a:noFill/>
          <a:ln cap="flat" cmpd="sng" w="28575">
            <a:solidFill>
              <a:srgbClr val="006FB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7" name="Google Shape;147;p3"/>
          <p:cNvSpPr/>
          <p:nvPr/>
        </p:nvSpPr>
        <p:spPr>
          <a:xfrm>
            <a:off x="1153886" y="3556531"/>
            <a:ext cx="4557485" cy="4745594"/>
          </a:xfrm>
          <a:prstGeom prst="roundRect">
            <a:avLst>
              <a:gd fmla="val 16667" name="adj"/>
            </a:avLst>
          </a:prstGeom>
          <a:noFill/>
          <a:ln cap="flat" cmpd="sng" w="28575">
            <a:solidFill>
              <a:srgbClr val="006FB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8" name="Google Shape;148;p3"/>
          <p:cNvSpPr/>
          <p:nvPr/>
        </p:nvSpPr>
        <p:spPr>
          <a:xfrm>
            <a:off x="6865257" y="3556531"/>
            <a:ext cx="4557485" cy="4745594"/>
          </a:xfrm>
          <a:prstGeom prst="roundRect">
            <a:avLst>
              <a:gd fmla="val 16667" name="adj"/>
            </a:avLst>
          </a:prstGeom>
          <a:noFill/>
          <a:ln cap="flat" cmpd="sng" w="28575">
            <a:solidFill>
              <a:srgbClr val="006FB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9" name="Google Shape;149;p3"/>
          <p:cNvSpPr txBox="1"/>
          <p:nvPr/>
        </p:nvSpPr>
        <p:spPr>
          <a:xfrm>
            <a:off x="2171247" y="4171936"/>
            <a:ext cx="2439600" cy="36930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1200"/>
              </a:spcBef>
              <a:spcAft>
                <a:spcPts val="0"/>
              </a:spcAft>
              <a:buNone/>
            </a:pPr>
            <a:r>
              <a:rPr b="1" i="0" lang="en-US" sz="2400" u="none" cap="none" strike="noStrike">
                <a:solidFill>
                  <a:srgbClr val="006FB4"/>
                </a:solidFill>
                <a:latin typeface="Arial"/>
                <a:ea typeface="Arial"/>
                <a:cs typeface="Arial"/>
                <a:sym typeface="Arial"/>
              </a:rPr>
              <a:t>Personalización</a:t>
            </a:r>
            <a:endParaRPr b="1" i="0" sz="2000" u="none" cap="none" strike="noStrike">
              <a:solidFill>
                <a:srgbClr val="006FB4"/>
              </a:solidFill>
              <a:latin typeface="Arial"/>
              <a:ea typeface="Arial"/>
              <a:cs typeface="Arial"/>
              <a:sym typeface="Arial"/>
            </a:endParaRPr>
          </a:p>
        </p:txBody>
      </p:sp>
      <p:sp>
        <p:nvSpPr>
          <p:cNvPr id="150" name="Google Shape;150;p3"/>
          <p:cNvSpPr txBox="1"/>
          <p:nvPr/>
        </p:nvSpPr>
        <p:spPr>
          <a:xfrm>
            <a:off x="2113339" y="5901141"/>
            <a:ext cx="2653970" cy="1877437"/>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1200"/>
              </a:spcBef>
              <a:spcAft>
                <a:spcPts val="0"/>
              </a:spcAft>
              <a:buNone/>
            </a:pPr>
            <a:r>
              <a:rPr b="0" i="0" lang="en-US" sz="2000" u="none" cap="none" strike="noStrike">
                <a:solidFill>
                  <a:schemeClr val="lt1"/>
                </a:solidFill>
                <a:latin typeface="Arial"/>
                <a:ea typeface="Arial"/>
                <a:cs typeface="Arial"/>
                <a:sym typeface="Arial"/>
              </a:rPr>
              <a:t>Entrenamiento según tus objetivos, nivel, tiempo disponible y contexto</a:t>
            </a:r>
            <a:endParaRPr b="1" i="0" sz="2000" u="none" cap="none" strike="noStrike">
              <a:solidFill>
                <a:schemeClr val="lt1"/>
              </a:solidFill>
              <a:latin typeface="Arial"/>
              <a:ea typeface="Arial"/>
              <a:cs typeface="Arial"/>
              <a:sym typeface="Arial"/>
            </a:endParaRPr>
          </a:p>
        </p:txBody>
      </p:sp>
      <p:sp>
        <p:nvSpPr>
          <p:cNvPr id="151" name="Google Shape;151;p3"/>
          <p:cNvSpPr txBox="1"/>
          <p:nvPr/>
        </p:nvSpPr>
        <p:spPr>
          <a:xfrm>
            <a:off x="7817014" y="6051803"/>
            <a:ext cx="2653970" cy="1877437"/>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1200"/>
              </a:spcBef>
              <a:spcAft>
                <a:spcPts val="0"/>
              </a:spcAft>
              <a:buNone/>
            </a:pPr>
            <a:r>
              <a:rPr b="0" i="0" lang="en-US" sz="2000" u="none" cap="none" strike="noStrike">
                <a:solidFill>
                  <a:schemeClr val="lt1"/>
                </a:solidFill>
                <a:latin typeface="Arial"/>
                <a:ea typeface="Arial"/>
                <a:cs typeface="Arial"/>
                <a:sym typeface="Arial"/>
              </a:rPr>
              <a:t>El plan se ajusta según tu progreso, molestias o cambios en tu disponibilidad.</a:t>
            </a:r>
            <a:endParaRPr b="1" i="0" sz="2000" u="none" cap="none" strike="noStrike">
              <a:solidFill>
                <a:schemeClr val="lt1"/>
              </a:solidFill>
              <a:latin typeface="Arial"/>
              <a:ea typeface="Arial"/>
              <a:cs typeface="Arial"/>
              <a:sym typeface="Arial"/>
            </a:endParaRPr>
          </a:p>
        </p:txBody>
      </p:sp>
      <p:sp>
        <p:nvSpPr>
          <p:cNvPr id="152" name="Google Shape;152;p3"/>
          <p:cNvSpPr txBox="1"/>
          <p:nvPr/>
        </p:nvSpPr>
        <p:spPr>
          <a:xfrm>
            <a:off x="13730102" y="5901140"/>
            <a:ext cx="2653970" cy="2308324"/>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1200"/>
              </a:spcBef>
              <a:spcAft>
                <a:spcPts val="0"/>
              </a:spcAft>
              <a:buNone/>
            </a:pPr>
            <a:r>
              <a:rPr b="0" i="0" lang="en-US" sz="2000" u="none" cap="none" strike="noStrike">
                <a:solidFill>
                  <a:schemeClr val="lt1"/>
                </a:solidFill>
                <a:latin typeface="Arial"/>
                <a:ea typeface="Arial"/>
                <a:cs typeface="Arial"/>
                <a:sym typeface="Arial"/>
              </a:rPr>
              <a:t>Registra tus entrenamientos y visualiza métricas, estadísticas e historial de avance.</a:t>
            </a:r>
            <a:endParaRPr b="1" i="0" sz="2000" u="none" cap="none" strike="noStrike">
              <a:solidFill>
                <a:schemeClr val="lt1"/>
              </a:solidFill>
              <a:latin typeface="Arial"/>
              <a:ea typeface="Arial"/>
              <a:cs typeface="Arial"/>
              <a:sym typeface="Arial"/>
            </a:endParaRPr>
          </a:p>
        </p:txBody>
      </p:sp>
      <p:sp>
        <p:nvSpPr>
          <p:cNvPr id="153" name="Google Shape;153;p3"/>
          <p:cNvSpPr txBox="1"/>
          <p:nvPr/>
        </p:nvSpPr>
        <p:spPr>
          <a:xfrm>
            <a:off x="13677141" y="4021096"/>
            <a:ext cx="2439600" cy="36930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1200"/>
              </a:spcBef>
              <a:spcAft>
                <a:spcPts val="0"/>
              </a:spcAft>
              <a:buNone/>
            </a:pPr>
            <a:r>
              <a:rPr b="1" i="0" lang="en-US" sz="2400" u="none" cap="none" strike="noStrike">
                <a:solidFill>
                  <a:srgbClr val="538CD5"/>
                </a:solidFill>
                <a:latin typeface="Arial"/>
                <a:ea typeface="Arial"/>
                <a:cs typeface="Arial"/>
                <a:sym typeface="Arial"/>
              </a:rPr>
              <a:t>Seguimiento</a:t>
            </a:r>
            <a:endParaRPr b="1" i="0" sz="2000" u="none" cap="none" strike="noStrike">
              <a:solidFill>
                <a:srgbClr val="538CD5"/>
              </a:solidFill>
              <a:latin typeface="Arial"/>
              <a:ea typeface="Arial"/>
              <a:cs typeface="Arial"/>
              <a:sym typeface="Arial"/>
            </a:endParaRPr>
          </a:p>
        </p:txBody>
      </p:sp>
      <p:sp>
        <p:nvSpPr>
          <p:cNvPr id="154" name="Google Shape;154;p3"/>
          <p:cNvSpPr txBox="1"/>
          <p:nvPr/>
        </p:nvSpPr>
        <p:spPr>
          <a:xfrm>
            <a:off x="7924193" y="4171930"/>
            <a:ext cx="2439600" cy="36930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1200"/>
              </a:spcBef>
              <a:spcAft>
                <a:spcPts val="0"/>
              </a:spcAft>
              <a:buNone/>
            </a:pPr>
            <a:r>
              <a:rPr b="1" i="0" lang="en-US" sz="2400" u="none" cap="none" strike="noStrike">
                <a:solidFill>
                  <a:srgbClr val="37B8A8"/>
                </a:solidFill>
                <a:latin typeface="Arial"/>
                <a:ea typeface="Arial"/>
                <a:cs typeface="Arial"/>
                <a:sym typeface="Arial"/>
              </a:rPr>
              <a:t>Adaptabilidad</a:t>
            </a:r>
            <a:endParaRPr b="1" i="0" sz="2000" u="none" cap="none" strike="noStrike">
              <a:solidFill>
                <a:srgbClr val="37B8A8"/>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4"/>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185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4"/>
          <p:cNvSpPr/>
          <p:nvPr/>
        </p:nvSpPr>
        <p:spPr>
          <a:xfrm>
            <a:off x="11634709" y="1091941"/>
            <a:ext cx="6150143" cy="10336374"/>
          </a:xfrm>
          <a:custGeom>
            <a:rect b="b" l="l" r="r" t="t"/>
            <a:pathLst>
              <a:path extrusionOk="0" h="10336374" w="6150143">
                <a:moveTo>
                  <a:pt x="0" y="0"/>
                </a:moveTo>
                <a:lnTo>
                  <a:pt x="6150143" y="0"/>
                </a:lnTo>
                <a:lnTo>
                  <a:pt x="6150143" y="10336374"/>
                </a:lnTo>
                <a:lnTo>
                  <a:pt x="0" y="1033637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 name="Google Shape;161;p4"/>
          <p:cNvSpPr txBox="1"/>
          <p:nvPr/>
        </p:nvSpPr>
        <p:spPr>
          <a:xfrm>
            <a:off x="2079808" y="2933977"/>
            <a:ext cx="8053500" cy="12981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2219"/>
              <a:buFont typeface="Arial"/>
              <a:buNone/>
            </a:pPr>
            <a:r>
              <a:rPr lang="en-US" sz="2219">
                <a:solidFill>
                  <a:srgbClr val="FFFFFF"/>
                </a:solidFill>
              </a:rPr>
              <a:t>Facilitar el acceso a planes de entrenamiento físico personalizados a personas que no cuentan con orientación profesional</a:t>
            </a:r>
            <a:endParaRPr b="0" i="0" sz="1400" u="none" cap="none" strike="noStrike">
              <a:solidFill>
                <a:srgbClr val="000000"/>
              </a:solidFill>
              <a:latin typeface="Arial"/>
              <a:ea typeface="Arial"/>
              <a:cs typeface="Arial"/>
              <a:sym typeface="Arial"/>
            </a:endParaRPr>
          </a:p>
        </p:txBody>
      </p:sp>
      <p:sp>
        <p:nvSpPr>
          <p:cNvPr id="162" name="Google Shape;162;p4"/>
          <p:cNvSpPr txBox="1"/>
          <p:nvPr/>
        </p:nvSpPr>
        <p:spPr>
          <a:xfrm>
            <a:off x="2032121" y="4494449"/>
            <a:ext cx="8053500" cy="12981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2219"/>
              <a:buFont typeface="Arial"/>
              <a:buNone/>
            </a:pPr>
            <a:r>
              <a:rPr lang="en-US" sz="2219">
                <a:solidFill>
                  <a:srgbClr val="FFFFFF"/>
                </a:solidFill>
              </a:rPr>
              <a:t>Permitir que cualquier persona, sin importar su nivel de experiencia, pueda obtener un plan de entrenamiento adaptado a su condición física</a:t>
            </a:r>
            <a:endParaRPr b="0" i="0" sz="1400" u="none" cap="none" strike="noStrike">
              <a:solidFill>
                <a:srgbClr val="000000"/>
              </a:solidFill>
              <a:latin typeface="Arial"/>
              <a:ea typeface="Arial"/>
              <a:cs typeface="Arial"/>
              <a:sym typeface="Arial"/>
            </a:endParaRPr>
          </a:p>
        </p:txBody>
      </p:sp>
      <p:sp>
        <p:nvSpPr>
          <p:cNvPr id="163" name="Google Shape;163;p4"/>
          <p:cNvSpPr txBox="1"/>
          <p:nvPr/>
        </p:nvSpPr>
        <p:spPr>
          <a:xfrm>
            <a:off x="2032183" y="6173411"/>
            <a:ext cx="8053372" cy="802118"/>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2219"/>
              <a:buFont typeface="Arial"/>
              <a:buNone/>
            </a:pPr>
            <a:r>
              <a:rPr b="0" i="0" lang="en-US" sz="2219" u="none" cap="none" strike="noStrike">
                <a:solidFill>
                  <a:srgbClr val="FFFFFF"/>
                </a:solidFill>
                <a:latin typeface="Arial"/>
                <a:ea typeface="Arial"/>
                <a:cs typeface="Arial"/>
                <a:sym typeface="Arial"/>
              </a:rPr>
              <a:t>Optimizar los resultados del usuario mediante ajustes dinámicos semanales basados en progreso real.</a:t>
            </a:r>
            <a:endParaRPr b="0" i="0" sz="1400" u="none" cap="none" strike="noStrike">
              <a:solidFill>
                <a:srgbClr val="000000"/>
              </a:solidFill>
              <a:latin typeface="Arial"/>
              <a:ea typeface="Arial"/>
              <a:cs typeface="Arial"/>
              <a:sym typeface="Arial"/>
            </a:endParaRPr>
          </a:p>
        </p:txBody>
      </p:sp>
      <p:sp>
        <p:nvSpPr>
          <p:cNvPr id="164" name="Google Shape;164;p4"/>
          <p:cNvSpPr txBox="1"/>
          <p:nvPr/>
        </p:nvSpPr>
        <p:spPr>
          <a:xfrm>
            <a:off x="2032183" y="7866497"/>
            <a:ext cx="8053372" cy="802118"/>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2219"/>
              <a:buFont typeface="Arial"/>
              <a:buNone/>
            </a:pPr>
            <a:r>
              <a:rPr b="0" i="0" lang="en-US" sz="2219" u="none" cap="none" strike="noStrike">
                <a:solidFill>
                  <a:srgbClr val="FFFFFF"/>
                </a:solidFill>
                <a:latin typeface="Arial"/>
                <a:ea typeface="Arial"/>
                <a:cs typeface="Arial"/>
                <a:sym typeface="Arial"/>
              </a:rPr>
              <a:t>Facilitar la adherencia al plan mediante un Coach Virtual con IA disponible 24/7.</a:t>
            </a:r>
            <a:endParaRPr b="0" i="0" sz="1400" u="none" cap="none" strike="noStrike">
              <a:solidFill>
                <a:srgbClr val="000000"/>
              </a:solidFill>
              <a:latin typeface="Arial"/>
              <a:ea typeface="Arial"/>
              <a:cs typeface="Arial"/>
              <a:sym typeface="Arial"/>
            </a:endParaRPr>
          </a:p>
        </p:txBody>
      </p:sp>
      <p:sp>
        <p:nvSpPr>
          <p:cNvPr id="165" name="Google Shape;165;p4"/>
          <p:cNvSpPr txBox="1"/>
          <p:nvPr/>
        </p:nvSpPr>
        <p:spPr>
          <a:xfrm>
            <a:off x="888108" y="789420"/>
            <a:ext cx="9075042" cy="1276503"/>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6381"/>
              <a:buFont typeface="Arial"/>
              <a:buNone/>
            </a:pPr>
            <a:r>
              <a:rPr b="1" i="0" lang="en-US" sz="6381" u="none" cap="none" strike="noStrike">
                <a:solidFill>
                  <a:srgbClr val="FFFFFF"/>
                </a:solidFill>
                <a:latin typeface="Arial"/>
                <a:ea typeface="Arial"/>
                <a:cs typeface="Arial"/>
                <a:sym typeface="Arial"/>
              </a:rPr>
              <a:t>Objetivos</a:t>
            </a:r>
            <a:endParaRPr b="1" i="0" sz="6381" u="none" cap="none" strike="noStrike">
              <a:solidFill>
                <a:srgbClr val="538CD5"/>
              </a:solidFill>
              <a:latin typeface="Arial"/>
              <a:ea typeface="Arial"/>
              <a:cs typeface="Arial"/>
              <a:sym typeface="Arial"/>
            </a:endParaRPr>
          </a:p>
        </p:txBody>
      </p:sp>
      <p:cxnSp>
        <p:nvCxnSpPr>
          <p:cNvPr id="166" name="Google Shape;166;p4"/>
          <p:cNvCxnSpPr/>
          <p:nvPr/>
        </p:nvCxnSpPr>
        <p:spPr>
          <a:xfrm>
            <a:off x="962025" y="1984321"/>
            <a:ext cx="3805284" cy="0"/>
          </a:xfrm>
          <a:prstGeom prst="straightConnector1">
            <a:avLst/>
          </a:prstGeom>
          <a:noFill/>
          <a:ln cap="flat" cmpd="sng" w="34925">
            <a:solidFill>
              <a:srgbClr val="396498"/>
            </a:solidFill>
            <a:prstDash val="solid"/>
            <a:round/>
            <a:headEnd len="sm" w="sm" type="none"/>
            <a:tailEnd len="sm" w="sm" type="none"/>
          </a:ln>
          <a:effectLst>
            <a:outerShdw blurRad="40000" rotWithShape="0" dir="5400000" dist="23000">
              <a:srgbClr val="000000">
                <a:alpha val="34901"/>
              </a:srgbClr>
            </a:outerShdw>
          </a:effectLst>
        </p:spPr>
      </p:cxnSp>
      <p:pic>
        <p:nvPicPr>
          <p:cNvPr id="167" name="Google Shape;167;p4"/>
          <p:cNvPicPr preferRelativeResize="0"/>
          <p:nvPr/>
        </p:nvPicPr>
        <p:blipFill rotWithShape="1">
          <a:blip r:embed="rId5">
            <a:alphaModFix/>
          </a:blip>
          <a:srcRect b="32870" l="23704" r="25788" t="17500"/>
          <a:stretch/>
        </p:blipFill>
        <p:spPr>
          <a:xfrm>
            <a:off x="411227" y="2783948"/>
            <a:ext cx="1440000" cy="1414936"/>
          </a:xfrm>
          <a:prstGeom prst="rect">
            <a:avLst/>
          </a:prstGeom>
          <a:noFill/>
          <a:ln>
            <a:noFill/>
          </a:ln>
        </p:spPr>
      </p:pic>
      <p:pic>
        <p:nvPicPr>
          <p:cNvPr id="168" name="Google Shape;168;p4"/>
          <p:cNvPicPr preferRelativeResize="0"/>
          <p:nvPr/>
        </p:nvPicPr>
        <p:blipFill rotWithShape="1">
          <a:blip r:embed="rId6">
            <a:alphaModFix/>
          </a:blip>
          <a:srcRect b="19673" l="23225" r="23069" t="17306"/>
          <a:stretch/>
        </p:blipFill>
        <p:spPr>
          <a:xfrm>
            <a:off x="476404" y="4632731"/>
            <a:ext cx="1440000" cy="844871"/>
          </a:xfrm>
          <a:prstGeom prst="rect">
            <a:avLst/>
          </a:prstGeom>
          <a:noFill/>
          <a:ln>
            <a:noFill/>
          </a:ln>
        </p:spPr>
      </p:pic>
      <p:pic>
        <p:nvPicPr>
          <p:cNvPr id="169" name="Google Shape;169;p4"/>
          <p:cNvPicPr preferRelativeResize="0"/>
          <p:nvPr/>
        </p:nvPicPr>
        <p:blipFill rotWithShape="1">
          <a:blip r:embed="rId7">
            <a:alphaModFix/>
          </a:blip>
          <a:srcRect b="18704" l="20926" r="13611" t="18148"/>
          <a:stretch/>
        </p:blipFill>
        <p:spPr>
          <a:xfrm>
            <a:off x="411227" y="5855468"/>
            <a:ext cx="1440000" cy="1389081"/>
          </a:xfrm>
          <a:prstGeom prst="rect">
            <a:avLst/>
          </a:prstGeom>
          <a:noFill/>
          <a:ln>
            <a:noFill/>
          </a:ln>
        </p:spPr>
      </p:pic>
      <p:pic>
        <p:nvPicPr>
          <p:cNvPr id="170" name="Google Shape;170;p4"/>
          <p:cNvPicPr preferRelativeResize="0"/>
          <p:nvPr/>
        </p:nvPicPr>
        <p:blipFill rotWithShape="1">
          <a:blip r:embed="rId8">
            <a:alphaModFix/>
          </a:blip>
          <a:srcRect b="18945" l="30674" r="27289" t="16797"/>
          <a:stretch/>
        </p:blipFill>
        <p:spPr>
          <a:xfrm>
            <a:off x="411227" y="7568946"/>
            <a:ext cx="1440000" cy="146746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p5"/>
          <p:cNvSpPr txBox="1"/>
          <p:nvPr/>
        </p:nvSpPr>
        <p:spPr>
          <a:xfrm>
            <a:off x="1983969" y="2932056"/>
            <a:ext cx="4037568" cy="775597"/>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1" i="0" lang="en-US" sz="2000" u="none" cap="none" strike="noStrike">
                <a:solidFill>
                  <a:schemeClr val="lt1"/>
                </a:solidFill>
                <a:latin typeface="Arial"/>
                <a:ea typeface="Arial"/>
                <a:cs typeface="Arial"/>
                <a:sym typeface="Arial"/>
              </a:rPr>
              <a:t>Evaluación inicial inteligente</a:t>
            </a:r>
            <a:endParaRPr/>
          </a:p>
          <a:p>
            <a:pPr indent="0" lvl="0" marL="0" marR="0" rtl="0" algn="just">
              <a:lnSpc>
                <a:spcPct val="140057"/>
              </a:lnSpc>
              <a:spcBef>
                <a:spcPts val="0"/>
              </a:spcBef>
              <a:spcAft>
                <a:spcPts val="0"/>
              </a:spcAft>
              <a:buNone/>
            </a:pPr>
            <a:r>
              <a:rPr b="0" i="0" lang="en-US" sz="1600" u="none" cap="none" strike="noStrike">
                <a:solidFill>
                  <a:schemeClr val="lt1"/>
                </a:solidFill>
                <a:latin typeface="Arial"/>
                <a:ea typeface="Arial"/>
                <a:cs typeface="Arial"/>
                <a:sym typeface="Arial"/>
              </a:rPr>
              <a:t>Con IA para entender tu perfil y objetivos.</a:t>
            </a:r>
            <a:endParaRPr b="0" i="0" sz="1600" u="none" cap="none" strike="noStrike">
              <a:solidFill>
                <a:schemeClr val="lt1"/>
              </a:solidFill>
              <a:latin typeface="Arial"/>
              <a:ea typeface="Arial"/>
              <a:cs typeface="Arial"/>
              <a:sym typeface="Arial"/>
            </a:endParaRPr>
          </a:p>
        </p:txBody>
      </p:sp>
      <p:sp>
        <p:nvSpPr>
          <p:cNvPr id="177" name="Google Shape;177;p5"/>
          <p:cNvSpPr txBox="1"/>
          <p:nvPr/>
        </p:nvSpPr>
        <p:spPr>
          <a:xfrm>
            <a:off x="888107" y="789420"/>
            <a:ext cx="11707880" cy="1276503"/>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6381"/>
              <a:buFont typeface="Arial"/>
              <a:buNone/>
            </a:pPr>
            <a:r>
              <a:rPr b="1" i="0" lang="en-US" sz="6381" u="none" cap="none" strike="noStrike">
                <a:solidFill>
                  <a:srgbClr val="FFFFFF"/>
                </a:solidFill>
                <a:latin typeface="Arial"/>
                <a:ea typeface="Arial"/>
                <a:cs typeface="Arial"/>
                <a:sym typeface="Arial"/>
              </a:rPr>
              <a:t>Características principales</a:t>
            </a:r>
            <a:endParaRPr b="1" i="0" sz="6381" u="none" cap="none" strike="noStrike">
              <a:solidFill>
                <a:srgbClr val="538CD5"/>
              </a:solidFill>
              <a:latin typeface="Arial"/>
              <a:ea typeface="Arial"/>
              <a:cs typeface="Arial"/>
              <a:sym typeface="Arial"/>
            </a:endParaRPr>
          </a:p>
        </p:txBody>
      </p:sp>
      <p:cxnSp>
        <p:nvCxnSpPr>
          <p:cNvPr id="178" name="Google Shape;178;p5"/>
          <p:cNvCxnSpPr/>
          <p:nvPr/>
        </p:nvCxnSpPr>
        <p:spPr>
          <a:xfrm>
            <a:off x="962025" y="1984321"/>
            <a:ext cx="3805284" cy="0"/>
          </a:xfrm>
          <a:prstGeom prst="straightConnector1">
            <a:avLst/>
          </a:prstGeom>
          <a:noFill/>
          <a:ln cap="flat" cmpd="sng" w="34925">
            <a:solidFill>
              <a:srgbClr val="396498"/>
            </a:solidFill>
            <a:prstDash val="solid"/>
            <a:round/>
            <a:headEnd len="sm" w="sm" type="none"/>
            <a:tailEnd len="sm" w="sm" type="none"/>
          </a:ln>
          <a:effectLst>
            <a:outerShdw blurRad="40000" rotWithShape="0" dir="5400000" dist="23000">
              <a:srgbClr val="000000">
                <a:alpha val="34901"/>
              </a:srgbClr>
            </a:outerShdw>
          </a:effectLst>
        </p:spPr>
      </p:cxnSp>
      <p:pic>
        <p:nvPicPr>
          <p:cNvPr id="179" name="Google Shape;179;p5"/>
          <p:cNvPicPr preferRelativeResize="0"/>
          <p:nvPr/>
        </p:nvPicPr>
        <p:blipFill rotWithShape="1">
          <a:blip r:embed="rId4">
            <a:alphaModFix amt="85000"/>
          </a:blip>
          <a:srcRect b="14712" l="36415" r="34780" t="12607"/>
          <a:stretch/>
        </p:blipFill>
        <p:spPr>
          <a:xfrm>
            <a:off x="1182986" y="2907543"/>
            <a:ext cx="720000" cy="908346"/>
          </a:xfrm>
          <a:prstGeom prst="rect">
            <a:avLst/>
          </a:prstGeom>
          <a:noFill/>
          <a:ln>
            <a:noFill/>
          </a:ln>
        </p:spPr>
      </p:pic>
      <p:pic>
        <p:nvPicPr>
          <p:cNvPr descr="Pesa png imágenes | PNGWing" id="180" name="Google Shape;180;p5"/>
          <p:cNvPicPr preferRelativeResize="0"/>
          <p:nvPr/>
        </p:nvPicPr>
        <p:blipFill rotWithShape="1">
          <a:blip r:embed="rId5">
            <a:alphaModFix/>
          </a:blip>
          <a:srcRect b="0" l="0" r="0" t="0"/>
          <a:stretch/>
        </p:blipFill>
        <p:spPr>
          <a:xfrm>
            <a:off x="1095373" y="4327506"/>
            <a:ext cx="720000" cy="720000"/>
          </a:xfrm>
          <a:prstGeom prst="rect">
            <a:avLst/>
          </a:prstGeom>
          <a:noFill/>
          <a:ln>
            <a:noFill/>
          </a:ln>
        </p:spPr>
      </p:pic>
      <p:sp>
        <p:nvSpPr>
          <p:cNvPr id="181" name="Google Shape;181;p5"/>
          <p:cNvSpPr txBox="1"/>
          <p:nvPr/>
        </p:nvSpPr>
        <p:spPr>
          <a:xfrm>
            <a:off x="1983969" y="4167584"/>
            <a:ext cx="4532239" cy="775597"/>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1" i="0" lang="en-US" sz="2000" u="none" cap="none" strike="noStrike">
                <a:solidFill>
                  <a:schemeClr val="lt1"/>
                </a:solidFill>
                <a:latin typeface="Arial"/>
                <a:ea typeface="Arial"/>
                <a:cs typeface="Arial"/>
                <a:sym typeface="Arial"/>
              </a:rPr>
              <a:t>Rutinas personalizadas con IA</a:t>
            </a:r>
            <a:endParaRPr/>
          </a:p>
          <a:p>
            <a:pPr indent="0" lvl="0" marL="0" marR="0" rtl="0" algn="just">
              <a:lnSpc>
                <a:spcPct val="140057"/>
              </a:lnSpc>
              <a:spcBef>
                <a:spcPts val="0"/>
              </a:spcBef>
              <a:spcAft>
                <a:spcPts val="0"/>
              </a:spcAft>
              <a:buNone/>
            </a:pPr>
            <a:r>
              <a:rPr b="0" i="0" lang="en-US" sz="1600" u="none" cap="none" strike="noStrike">
                <a:solidFill>
                  <a:schemeClr val="lt1"/>
                </a:solidFill>
                <a:latin typeface="Arial"/>
                <a:ea typeface="Arial"/>
                <a:cs typeface="Arial"/>
                <a:sym typeface="Arial"/>
              </a:rPr>
              <a:t>Planes únicos según tu nivel, tiempo y metas.</a:t>
            </a:r>
            <a:endParaRPr b="0" i="0" sz="1600" u="none" cap="none" strike="noStrike">
              <a:solidFill>
                <a:schemeClr val="lt1"/>
              </a:solidFill>
              <a:latin typeface="Arial"/>
              <a:ea typeface="Arial"/>
              <a:cs typeface="Arial"/>
              <a:sym typeface="Arial"/>
            </a:endParaRPr>
          </a:p>
        </p:txBody>
      </p:sp>
      <p:sp>
        <p:nvSpPr>
          <p:cNvPr id="182" name="Google Shape;182;p5"/>
          <p:cNvSpPr txBox="1"/>
          <p:nvPr/>
        </p:nvSpPr>
        <p:spPr>
          <a:xfrm>
            <a:off x="1983969" y="5403112"/>
            <a:ext cx="5767796" cy="775597"/>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1" i="0" lang="en-US" sz="2000" u="none" cap="none" strike="noStrike">
                <a:solidFill>
                  <a:schemeClr val="lt1"/>
                </a:solidFill>
                <a:latin typeface="Arial"/>
                <a:ea typeface="Arial"/>
                <a:cs typeface="Arial"/>
                <a:sym typeface="Arial"/>
              </a:rPr>
              <a:t>Seguimiento de progreso en tiempo real</a:t>
            </a:r>
            <a:endParaRPr/>
          </a:p>
          <a:p>
            <a:pPr indent="0" lvl="0" marL="0" marR="0" rtl="0" algn="just">
              <a:lnSpc>
                <a:spcPct val="140057"/>
              </a:lnSpc>
              <a:spcBef>
                <a:spcPts val="0"/>
              </a:spcBef>
              <a:spcAft>
                <a:spcPts val="0"/>
              </a:spcAft>
              <a:buNone/>
            </a:pPr>
            <a:r>
              <a:rPr b="0" i="0" lang="en-US" sz="1600" u="none" cap="none" strike="noStrike">
                <a:solidFill>
                  <a:schemeClr val="lt1"/>
                </a:solidFill>
                <a:latin typeface="Arial"/>
                <a:ea typeface="Arial"/>
                <a:cs typeface="Arial"/>
                <a:sym typeface="Arial"/>
              </a:rPr>
              <a:t>Métricas clave y evolución semana a semana.</a:t>
            </a:r>
            <a:endParaRPr b="0" i="0" sz="1600" u="none" cap="none" strike="noStrike">
              <a:solidFill>
                <a:schemeClr val="lt1"/>
              </a:solidFill>
              <a:latin typeface="Arial"/>
              <a:ea typeface="Arial"/>
              <a:cs typeface="Arial"/>
              <a:sym typeface="Arial"/>
            </a:endParaRPr>
          </a:p>
        </p:txBody>
      </p:sp>
      <p:sp>
        <p:nvSpPr>
          <p:cNvPr id="183" name="Google Shape;183;p5"/>
          <p:cNvSpPr txBox="1"/>
          <p:nvPr/>
        </p:nvSpPr>
        <p:spPr>
          <a:xfrm>
            <a:off x="1983969" y="7874168"/>
            <a:ext cx="5841687" cy="775597"/>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1" i="0" lang="en-US" sz="2000" u="none" cap="none" strike="noStrike">
                <a:solidFill>
                  <a:schemeClr val="lt1"/>
                </a:solidFill>
                <a:latin typeface="Arial"/>
                <a:ea typeface="Arial"/>
                <a:cs typeface="Arial"/>
                <a:sym typeface="Arial"/>
              </a:rPr>
              <a:t>Coach Virtual con IA 24/7</a:t>
            </a:r>
            <a:endParaRPr/>
          </a:p>
          <a:p>
            <a:pPr indent="0" lvl="0" marL="0" marR="0" rtl="0" algn="just">
              <a:lnSpc>
                <a:spcPct val="140057"/>
              </a:lnSpc>
              <a:spcBef>
                <a:spcPts val="0"/>
              </a:spcBef>
              <a:spcAft>
                <a:spcPts val="0"/>
              </a:spcAft>
              <a:buNone/>
            </a:pPr>
            <a:r>
              <a:rPr b="0" i="0" lang="en-US" sz="1600" u="none" cap="none" strike="noStrike">
                <a:solidFill>
                  <a:schemeClr val="lt1"/>
                </a:solidFill>
                <a:latin typeface="Arial"/>
                <a:ea typeface="Arial"/>
                <a:cs typeface="Arial"/>
                <a:sym typeface="Arial"/>
              </a:rPr>
              <a:t>Resuelve dudas y te guía en todo momento.</a:t>
            </a:r>
            <a:endParaRPr b="0" i="0" sz="1600" u="none" cap="none" strike="noStrike">
              <a:solidFill>
                <a:schemeClr val="lt1"/>
              </a:solidFill>
              <a:latin typeface="Arial"/>
              <a:ea typeface="Arial"/>
              <a:cs typeface="Arial"/>
              <a:sym typeface="Arial"/>
            </a:endParaRPr>
          </a:p>
        </p:txBody>
      </p:sp>
      <p:pic>
        <p:nvPicPr>
          <p:cNvPr descr="Tabla de progreso png imágenes | PNGWing" id="184" name="Google Shape;184;p5"/>
          <p:cNvPicPr preferRelativeResize="0"/>
          <p:nvPr/>
        </p:nvPicPr>
        <p:blipFill rotWithShape="1">
          <a:blip r:embed="rId6">
            <a:alphaModFix/>
          </a:blip>
          <a:srcRect b="0" l="0" r="0" t="0"/>
          <a:stretch/>
        </p:blipFill>
        <p:spPr>
          <a:xfrm>
            <a:off x="1148338" y="5559123"/>
            <a:ext cx="720000" cy="480522"/>
          </a:xfrm>
          <a:prstGeom prst="rect">
            <a:avLst/>
          </a:prstGeom>
          <a:noFill/>
          <a:ln>
            <a:noFill/>
          </a:ln>
        </p:spPr>
      </p:pic>
      <p:pic>
        <p:nvPicPr>
          <p:cNvPr descr="Iconos De Chat PNG, Dibujos, Vectores Para Descarga Gratuita - Pngtree" id="185" name="Google Shape;185;p5"/>
          <p:cNvPicPr preferRelativeResize="0"/>
          <p:nvPr/>
        </p:nvPicPr>
        <p:blipFill rotWithShape="1">
          <a:blip r:embed="rId7">
            <a:alphaModFix/>
          </a:blip>
          <a:srcRect b="0" l="0" r="0" t="0"/>
          <a:stretch/>
        </p:blipFill>
        <p:spPr>
          <a:xfrm>
            <a:off x="1148338" y="7782879"/>
            <a:ext cx="720000" cy="720000"/>
          </a:xfrm>
          <a:prstGeom prst="rect">
            <a:avLst/>
          </a:prstGeom>
          <a:noFill/>
          <a:ln>
            <a:noFill/>
          </a:ln>
        </p:spPr>
      </p:pic>
      <p:pic>
        <p:nvPicPr>
          <p:cNvPr descr="Músculo - Iconos gratis de médico" id="186" name="Google Shape;186;p5"/>
          <p:cNvPicPr preferRelativeResize="0"/>
          <p:nvPr/>
        </p:nvPicPr>
        <p:blipFill rotWithShape="1">
          <a:blip r:embed="rId8">
            <a:alphaModFix/>
          </a:blip>
          <a:srcRect b="0" l="0" r="0" t="0"/>
          <a:stretch/>
        </p:blipFill>
        <p:spPr>
          <a:xfrm>
            <a:off x="1106428" y="6551262"/>
            <a:ext cx="720000" cy="720000"/>
          </a:xfrm>
          <a:prstGeom prst="rect">
            <a:avLst/>
          </a:prstGeom>
          <a:noFill/>
          <a:ln>
            <a:noFill/>
          </a:ln>
        </p:spPr>
      </p:pic>
      <p:sp>
        <p:nvSpPr>
          <p:cNvPr id="187" name="Google Shape;187;p5"/>
          <p:cNvSpPr txBox="1"/>
          <p:nvPr/>
        </p:nvSpPr>
        <p:spPr>
          <a:xfrm>
            <a:off x="1983969" y="6638640"/>
            <a:ext cx="5767796" cy="775597"/>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1" i="0" lang="en-US" sz="2000" u="none" cap="none" strike="noStrike">
                <a:solidFill>
                  <a:schemeClr val="lt1"/>
                </a:solidFill>
                <a:latin typeface="Arial"/>
                <a:ea typeface="Arial"/>
                <a:cs typeface="Arial"/>
                <a:sym typeface="Arial"/>
              </a:rPr>
              <a:t>Adaptación automática del plan</a:t>
            </a:r>
            <a:endParaRPr/>
          </a:p>
          <a:p>
            <a:pPr indent="0" lvl="0" marL="0" marR="0" rtl="0" algn="just">
              <a:lnSpc>
                <a:spcPct val="140057"/>
              </a:lnSpc>
              <a:spcBef>
                <a:spcPts val="0"/>
              </a:spcBef>
              <a:spcAft>
                <a:spcPts val="0"/>
              </a:spcAft>
              <a:buNone/>
            </a:pPr>
            <a:r>
              <a:rPr b="0" i="0" lang="en-US" sz="1600" u="none" cap="none" strike="noStrike">
                <a:solidFill>
                  <a:schemeClr val="lt1"/>
                </a:solidFill>
                <a:latin typeface="Arial"/>
                <a:ea typeface="Arial"/>
                <a:cs typeface="Arial"/>
                <a:sym typeface="Arial"/>
              </a:rPr>
              <a:t>La IA ajusta tu rutina según tu desempeño.</a:t>
            </a:r>
            <a:endParaRPr b="0" i="0" sz="1600" u="none" cap="none" strike="noStrike">
              <a:solidFill>
                <a:schemeClr val="lt1"/>
              </a:solidFill>
              <a:latin typeface="Arial"/>
              <a:ea typeface="Arial"/>
              <a:cs typeface="Arial"/>
              <a:sym typeface="Arial"/>
            </a:endParaRPr>
          </a:p>
        </p:txBody>
      </p:sp>
      <p:pic>
        <p:nvPicPr>
          <p:cNvPr id="188" name="Google Shape;188;p5"/>
          <p:cNvPicPr preferRelativeResize="0"/>
          <p:nvPr/>
        </p:nvPicPr>
        <p:blipFill rotWithShape="1">
          <a:blip r:embed="rId9">
            <a:alphaModFix/>
          </a:blip>
          <a:srcRect b="0" l="0" r="0" t="0"/>
          <a:stretch/>
        </p:blipFill>
        <p:spPr>
          <a:xfrm>
            <a:off x="10993248" y="2281562"/>
            <a:ext cx="3394401" cy="7354536"/>
          </a:xfrm>
          <a:prstGeom prst="rect">
            <a:avLst/>
          </a:prstGeom>
          <a:noFill/>
          <a:ln>
            <a:noFill/>
          </a:ln>
        </p:spPr>
      </p:pic>
      <p:pic>
        <p:nvPicPr>
          <p:cNvPr descr="Marco De Telefono Sin Fondo, HD Png Download - 715x715(#2240895) - PngFind" id="189" name="Google Shape;189;p5"/>
          <p:cNvPicPr preferRelativeResize="0"/>
          <p:nvPr/>
        </p:nvPicPr>
        <p:blipFill rotWithShape="1">
          <a:blip r:embed="rId10">
            <a:alphaModFix/>
          </a:blip>
          <a:srcRect b="0" l="0" r="0" t="0"/>
          <a:stretch/>
        </p:blipFill>
        <p:spPr>
          <a:xfrm>
            <a:off x="8607882" y="1630680"/>
            <a:ext cx="8636000" cy="87641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6"/>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58" l="-32806" r="0" t="-4814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p6"/>
          <p:cNvSpPr txBox="1"/>
          <p:nvPr/>
        </p:nvSpPr>
        <p:spPr>
          <a:xfrm>
            <a:off x="888107" y="789420"/>
            <a:ext cx="11707880" cy="1276503"/>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6381"/>
              <a:buFont typeface="Arial"/>
              <a:buNone/>
            </a:pPr>
            <a:r>
              <a:rPr b="1" i="0" lang="en-US" sz="6381" u="none" cap="none" strike="noStrike">
                <a:solidFill>
                  <a:srgbClr val="FFFFFF"/>
                </a:solidFill>
                <a:latin typeface="Arial"/>
                <a:ea typeface="Arial"/>
                <a:cs typeface="Arial"/>
                <a:sym typeface="Arial"/>
              </a:rPr>
              <a:t>¿Cómo funciona?</a:t>
            </a:r>
            <a:endParaRPr b="1" i="0" sz="6381" u="none" cap="none" strike="noStrike">
              <a:solidFill>
                <a:srgbClr val="538CD5"/>
              </a:solidFill>
              <a:latin typeface="Arial"/>
              <a:ea typeface="Arial"/>
              <a:cs typeface="Arial"/>
              <a:sym typeface="Arial"/>
            </a:endParaRPr>
          </a:p>
        </p:txBody>
      </p:sp>
      <p:cxnSp>
        <p:nvCxnSpPr>
          <p:cNvPr id="196" name="Google Shape;196;p6"/>
          <p:cNvCxnSpPr/>
          <p:nvPr/>
        </p:nvCxnSpPr>
        <p:spPr>
          <a:xfrm>
            <a:off x="962025" y="1984321"/>
            <a:ext cx="3805284" cy="0"/>
          </a:xfrm>
          <a:prstGeom prst="straightConnector1">
            <a:avLst/>
          </a:prstGeom>
          <a:noFill/>
          <a:ln cap="flat" cmpd="sng" w="34925">
            <a:solidFill>
              <a:srgbClr val="396498"/>
            </a:solidFill>
            <a:prstDash val="solid"/>
            <a:round/>
            <a:headEnd len="sm" w="sm" type="none"/>
            <a:tailEnd len="sm" w="sm" type="none"/>
          </a:ln>
          <a:effectLst>
            <a:outerShdw blurRad="40000" rotWithShape="0" dir="5400000" dist="23000">
              <a:srgbClr val="000000">
                <a:alpha val="34901"/>
              </a:srgbClr>
            </a:outerShdw>
          </a:effectLst>
        </p:spPr>
      </p:cxnSp>
      <p:pic>
        <p:nvPicPr>
          <p:cNvPr id="197" name="Google Shape;197;p6"/>
          <p:cNvPicPr preferRelativeResize="0"/>
          <p:nvPr/>
        </p:nvPicPr>
        <p:blipFill rotWithShape="1">
          <a:blip r:embed="rId4">
            <a:alphaModFix/>
          </a:blip>
          <a:srcRect b="0" l="0" r="0" t="13842"/>
          <a:stretch/>
        </p:blipFill>
        <p:spPr>
          <a:xfrm>
            <a:off x="542925" y="2065923"/>
            <a:ext cx="15925800" cy="77222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7"/>
          <p:cNvSpPr/>
          <p:nvPr/>
        </p:nvSpPr>
        <p:spPr>
          <a:xfrm flipH="1">
            <a:off x="0" y="2723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58" l="-32806" r="0" t="-4814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3" name="Google Shape;203;p7"/>
          <p:cNvSpPr txBox="1"/>
          <p:nvPr/>
        </p:nvSpPr>
        <p:spPr>
          <a:xfrm>
            <a:off x="888107" y="789420"/>
            <a:ext cx="11707880" cy="1276503"/>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6381"/>
              <a:buFont typeface="Arial"/>
              <a:buNone/>
            </a:pPr>
            <a:r>
              <a:rPr b="1" i="0" lang="en-US" sz="6381" u="none" cap="none" strike="noStrike">
                <a:solidFill>
                  <a:srgbClr val="006FB4"/>
                </a:solidFill>
                <a:latin typeface="Arial"/>
                <a:ea typeface="Arial"/>
                <a:cs typeface="Arial"/>
                <a:sym typeface="Arial"/>
              </a:rPr>
              <a:t>Metodología</a:t>
            </a:r>
            <a:r>
              <a:rPr b="1" i="0" lang="en-US" sz="6381" u="none" cap="none" strike="noStrike">
                <a:solidFill>
                  <a:srgbClr val="FFFFFF"/>
                </a:solidFill>
                <a:latin typeface="Arial"/>
                <a:ea typeface="Arial"/>
                <a:cs typeface="Arial"/>
                <a:sym typeface="Arial"/>
              </a:rPr>
              <a:t> de trabajo</a:t>
            </a:r>
            <a:endParaRPr b="1" i="0" sz="6381" u="none" cap="none" strike="noStrike">
              <a:solidFill>
                <a:srgbClr val="538CD5"/>
              </a:solidFill>
              <a:latin typeface="Arial"/>
              <a:ea typeface="Arial"/>
              <a:cs typeface="Arial"/>
              <a:sym typeface="Arial"/>
            </a:endParaRPr>
          </a:p>
        </p:txBody>
      </p:sp>
      <p:cxnSp>
        <p:nvCxnSpPr>
          <p:cNvPr id="204" name="Google Shape;204;p7"/>
          <p:cNvCxnSpPr/>
          <p:nvPr/>
        </p:nvCxnSpPr>
        <p:spPr>
          <a:xfrm>
            <a:off x="962025" y="1984321"/>
            <a:ext cx="3805284" cy="0"/>
          </a:xfrm>
          <a:prstGeom prst="straightConnector1">
            <a:avLst/>
          </a:prstGeom>
          <a:noFill/>
          <a:ln cap="flat" cmpd="sng" w="34925">
            <a:solidFill>
              <a:srgbClr val="396498"/>
            </a:solidFill>
            <a:prstDash val="solid"/>
            <a:round/>
            <a:headEnd len="sm" w="sm" type="none"/>
            <a:tailEnd len="sm" w="sm" type="none"/>
          </a:ln>
          <a:effectLst>
            <a:outerShdw blurRad="40000" rotWithShape="0" dir="5400000" dist="23000">
              <a:srgbClr val="000000">
                <a:alpha val="34901"/>
              </a:srgbClr>
            </a:outerShdw>
          </a:effectLst>
        </p:spPr>
      </p:cxnSp>
      <p:sp>
        <p:nvSpPr>
          <p:cNvPr id="205" name="Google Shape;205;p7"/>
          <p:cNvSpPr txBox="1"/>
          <p:nvPr/>
        </p:nvSpPr>
        <p:spPr>
          <a:xfrm>
            <a:off x="1316967" y="6189537"/>
            <a:ext cx="2881332" cy="2379498"/>
          </a:xfrm>
          <a:prstGeom prst="rect">
            <a:avLst/>
          </a:prstGeom>
          <a:noFill/>
          <a:ln>
            <a:noFill/>
          </a:ln>
        </p:spPr>
        <p:txBody>
          <a:bodyPr anchorCtr="0" anchor="t" bIns="0" lIns="0" spcFirstLastPara="1" rIns="0" wrap="square" tIns="0">
            <a:spAutoFit/>
          </a:bodyPr>
          <a:lstStyle/>
          <a:p>
            <a:pPr indent="0" lvl="0" marL="0" marR="0" rtl="0" algn="ctr">
              <a:lnSpc>
                <a:spcPct val="140032"/>
              </a:lnSpc>
              <a:spcBef>
                <a:spcPts val="0"/>
              </a:spcBef>
              <a:spcAft>
                <a:spcPts val="0"/>
              </a:spcAft>
              <a:buClr>
                <a:srgbClr val="000000"/>
              </a:buClr>
              <a:buSzPts val="1841"/>
              <a:buFont typeface="Arial"/>
              <a:buNone/>
            </a:pPr>
            <a:r>
              <a:rPr b="1" i="0" lang="en-US" sz="1841" u="none" cap="none" strike="noStrike">
                <a:solidFill>
                  <a:srgbClr val="0B939D"/>
                </a:solidFill>
                <a:latin typeface="Arial"/>
                <a:ea typeface="Arial"/>
                <a:cs typeface="Arial"/>
                <a:sym typeface="Arial"/>
              </a:rPr>
              <a:t>Scrum Adaptado</a:t>
            </a:r>
            <a:endParaRPr b="1" i="0" sz="1400" u="none" cap="none" strike="noStrike">
              <a:solidFill>
                <a:srgbClr val="0B939D"/>
              </a:solidFill>
              <a:latin typeface="Arial"/>
              <a:ea typeface="Arial"/>
              <a:cs typeface="Arial"/>
              <a:sym typeface="Arial"/>
            </a:endParaRPr>
          </a:p>
          <a:p>
            <a:pPr indent="0" lvl="0" marL="0" marR="0" rtl="0" algn="ctr">
              <a:lnSpc>
                <a:spcPct val="140032"/>
              </a:lnSpc>
              <a:spcBef>
                <a:spcPts val="0"/>
              </a:spcBef>
              <a:spcAft>
                <a:spcPts val="0"/>
              </a:spcAft>
              <a:buClr>
                <a:srgbClr val="000000"/>
              </a:buClr>
              <a:buSzPts val="1841"/>
              <a:buFont typeface="Arial"/>
              <a:buNone/>
            </a:pPr>
            <a:r>
              <a:rPr b="0" i="0" lang="en-US" sz="1841" u="none" cap="none" strike="noStrike">
                <a:solidFill>
                  <a:srgbClr val="FFFFFF"/>
                </a:solidFill>
                <a:latin typeface="Arial"/>
                <a:ea typeface="Arial"/>
                <a:cs typeface="Arial"/>
                <a:sym typeface="Arial"/>
              </a:rPr>
              <a:t>Metodología ágil personalizada para equipos pequeños con enfoque en entregas incrementales y mejora continua.</a:t>
            </a:r>
            <a:endParaRPr b="0" i="0" sz="1400" u="none" cap="none" strike="noStrike">
              <a:solidFill>
                <a:srgbClr val="000000"/>
              </a:solidFill>
              <a:latin typeface="Arial"/>
              <a:ea typeface="Arial"/>
              <a:cs typeface="Arial"/>
              <a:sym typeface="Arial"/>
            </a:endParaRPr>
          </a:p>
        </p:txBody>
      </p:sp>
      <p:grpSp>
        <p:nvGrpSpPr>
          <p:cNvPr id="206" name="Google Shape;206;p7"/>
          <p:cNvGrpSpPr/>
          <p:nvPr/>
        </p:nvGrpSpPr>
        <p:grpSpPr>
          <a:xfrm>
            <a:off x="1915032" y="4306861"/>
            <a:ext cx="1476315" cy="1476315"/>
            <a:chOff x="0" y="0"/>
            <a:chExt cx="812800" cy="812800"/>
          </a:xfrm>
        </p:grpSpPr>
        <p:sp>
          <p:nvSpPr>
            <p:cNvPr id="207" name="Google Shape;207;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7"/>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444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9" name="Google Shape;209;p7"/>
          <p:cNvSpPr/>
          <p:nvPr/>
        </p:nvSpPr>
        <p:spPr>
          <a:xfrm>
            <a:off x="2249777" y="4549977"/>
            <a:ext cx="806824" cy="911697"/>
          </a:xfrm>
          <a:custGeom>
            <a:rect b="b" l="l" r="r" t="t"/>
            <a:pathLst>
              <a:path extrusionOk="0" h="911697" w="806824">
                <a:moveTo>
                  <a:pt x="0" y="0"/>
                </a:moveTo>
                <a:lnTo>
                  <a:pt x="806824" y="0"/>
                </a:lnTo>
                <a:lnTo>
                  <a:pt x="806824" y="911697"/>
                </a:lnTo>
                <a:lnTo>
                  <a:pt x="0" y="91169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 name="Google Shape;210;p7"/>
          <p:cNvSpPr/>
          <p:nvPr/>
        </p:nvSpPr>
        <p:spPr>
          <a:xfrm>
            <a:off x="1207360" y="3977043"/>
            <a:ext cx="3018408" cy="4765398"/>
          </a:xfrm>
          <a:prstGeom prst="roundRect">
            <a:avLst>
              <a:gd fmla="val 16667" name="adj"/>
            </a:avLst>
          </a:prstGeom>
          <a:noFill/>
          <a:ln cap="flat" cmpd="sng" w="28575">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1" name="Google Shape;211;p7"/>
          <p:cNvSpPr txBox="1"/>
          <p:nvPr/>
        </p:nvSpPr>
        <p:spPr>
          <a:xfrm>
            <a:off x="14087712" y="6261776"/>
            <a:ext cx="2814221" cy="2379498"/>
          </a:xfrm>
          <a:prstGeom prst="rect">
            <a:avLst/>
          </a:prstGeom>
          <a:noFill/>
          <a:ln>
            <a:noFill/>
          </a:ln>
        </p:spPr>
        <p:txBody>
          <a:bodyPr anchorCtr="0" anchor="t" bIns="0" lIns="0" spcFirstLastPara="1" rIns="0" wrap="square" tIns="0">
            <a:spAutoFit/>
          </a:bodyPr>
          <a:lstStyle/>
          <a:p>
            <a:pPr indent="0" lvl="0" marL="0" marR="0" rtl="0" algn="ctr">
              <a:lnSpc>
                <a:spcPct val="140032"/>
              </a:lnSpc>
              <a:spcBef>
                <a:spcPts val="0"/>
              </a:spcBef>
              <a:spcAft>
                <a:spcPts val="0"/>
              </a:spcAft>
              <a:buClr>
                <a:srgbClr val="000000"/>
              </a:buClr>
              <a:buSzPts val="1841"/>
              <a:buFont typeface="Arial"/>
              <a:buNone/>
            </a:pPr>
            <a:r>
              <a:rPr b="1" i="0" lang="en-US" sz="1841" u="none" cap="none" strike="noStrike">
                <a:solidFill>
                  <a:srgbClr val="0B939D"/>
                </a:solidFill>
                <a:latin typeface="Arial"/>
                <a:ea typeface="Arial"/>
                <a:cs typeface="Arial"/>
                <a:sym typeface="Arial"/>
              </a:rPr>
              <a:t>Control Git</a:t>
            </a:r>
            <a:endParaRPr/>
          </a:p>
          <a:p>
            <a:pPr indent="0" lvl="0" marL="0" marR="0" rtl="0" algn="ctr">
              <a:lnSpc>
                <a:spcPct val="140032"/>
              </a:lnSpc>
              <a:spcBef>
                <a:spcPts val="0"/>
              </a:spcBef>
              <a:spcAft>
                <a:spcPts val="0"/>
              </a:spcAft>
              <a:buClr>
                <a:srgbClr val="000000"/>
              </a:buClr>
              <a:buSzPts val="1841"/>
              <a:buFont typeface="Arial"/>
              <a:buNone/>
            </a:pPr>
            <a:r>
              <a:rPr b="0" i="0" lang="en-US" sz="1841" u="none" cap="none" strike="noStrike">
                <a:solidFill>
                  <a:srgbClr val="FFFFFF"/>
                </a:solidFill>
                <a:latin typeface="Arial"/>
                <a:ea typeface="Arial"/>
                <a:cs typeface="Arial"/>
                <a:sym typeface="Arial"/>
              </a:rPr>
              <a:t>Ramas main y develop con Pull Requests obligatorios para revisión de código y asegurar calidad.</a:t>
            </a:r>
            <a:endParaRPr b="0" i="0" sz="1400" u="none" cap="none" strike="noStrike">
              <a:solidFill>
                <a:srgbClr val="000000"/>
              </a:solidFill>
              <a:latin typeface="Arial"/>
              <a:ea typeface="Arial"/>
              <a:cs typeface="Arial"/>
              <a:sym typeface="Arial"/>
            </a:endParaRPr>
          </a:p>
        </p:txBody>
      </p:sp>
      <p:grpSp>
        <p:nvGrpSpPr>
          <p:cNvPr id="212" name="Google Shape;212;p7"/>
          <p:cNvGrpSpPr/>
          <p:nvPr/>
        </p:nvGrpSpPr>
        <p:grpSpPr>
          <a:xfrm>
            <a:off x="14897392" y="4484001"/>
            <a:ext cx="1476315" cy="1476315"/>
            <a:chOff x="0" y="0"/>
            <a:chExt cx="812800" cy="812800"/>
          </a:xfrm>
        </p:grpSpPr>
        <p:sp>
          <p:nvSpPr>
            <p:cNvPr id="213" name="Google Shape;213;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7"/>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444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5" name="Google Shape;215;p7"/>
          <p:cNvSpPr/>
          <p:nvPr/>
        </p:nvSpPr>
        <p:spPr>
          <a:xfrm>
            <a:off x="15175578" y="4757876"/>
            <a:ext cx="858886" cy="855665"/>
          </a:xfrm>
          <a:custGeom>
            <a:rect b="b" l="l" r="r" t="t"/>
            <a:pathLst>
              <a:path extrusionOk="0" h="855665" w="858886">
                <a:moveTo>
                  <a:pt x="0" y="0"/>
                </a:moveTo>
                <a:lnTo>
                  <a:pt x="858886" y="0"/>
                </a:lnTo>
                <a:lnTo>
                  <a:pt x="858886" y="855666"/>
                </a:lnTo>
                <a:lnTo>
                  <a:pt x="0" y="85566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6" name="Google Shape;216;p7"/>
          <p:cNvSpPr/>
          <p:nvPr/>
        </p:nvSpPr>
        <p:spPr>
          <a:xfrm>
            <a:off x="13991206" y="3977043"/>
            <a:ext cx="3018408" cy="4765398"/>
          </a:xfrm>
          <a:prstGeom prst="roundRect">
            <a:avLst>
              <a:gd fmla="val 16667" name="adj"/>
            </a:avLst>
          </a:prstGeom>
          <a:noFill/>
          <a:ln cap="flat" cmpd="sng" w="28575">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7" name="Google Shape;217;p7"/>
          <p:cNvSpPr txBox="1"/>
          <p:nvPr/>
        </p:nvSpPr>
        <p:spPr>
          <a:xfrm>
            <a:off x="9971481" y="6261776"/>
            <a:ext cx="2776851" cy="2379498"/>
          </a:xfrm>
          <a:prstGeom prst="rect">
            <a:avLst/>
          </a:prstGeom>
          <a:noFill/>
          <a:ln>
            <a:noFill/>
          </a:ln>
        </p:spPr>
        <p:txBody>
          <a:bodyPr anchorCtr="0" anchor="t" bIns="0" lIns="0" spcFirstLastPara="1" rIns="0" wrap="square" tIns="0">
            <a:spAutoFit/>
          </a:bodyPr>
          <a:lstStyle/>
          <a:p>
            <a:pPr indent="0" lvl="0" marL="0" marR="0" rtl="0" algn="ctr">
              <a:lnSpc>
                <a:spcPct val="140032"/>
              </a:lnSpc>
              <a:spcBef>
                <a:spcPts val="0"/>
              </a:spcBef>
              <a:spcAft>
                <a:spcPts val="0"/>
              </a:spcAft>
              <a:buClr>
                <a:srgbClr val="000000"/>
              </a:buClr>
              <a:buSzPts val="1841"/>
              <a:buFont typeface="Arial"/>
              <a:buNone/>
            </a:pPr>
            <a:r>
              <a:rPr b="1" i="0" lang="en-US" sz="1841" u="none" cap="none" strike="noStrike">
                <a:solidFill>
                  <a:srgbClr val="0B939D"/>
                </a:solidFill>
                <a:latin typeface="Arial"/>
                <a:ea typeface="Arial"/>
                <a:cs typeface="Arial"/>
                <a:sym typeface="Arial"/>
              </a:rPr>
              <a:t>Gestión en Jira</a:t>
            </a:r>
            <a:endParaRPr/>
          </a:p>
          <a:p>
            <a:pPr indent="0" lvl="0" marL="0" marR="0" rtl="0" algn="ctr">
              <a:lnSpc>
                <a:spcPct val="140032"/>
              </a:lnSpc>
              <a:spcBef>
                <a:spcPts val="0"/>
              </a:spcBef>
              <a:spcAft>
                <a:spcPts val="0"/>
              </a:spcAft>
              <a:buClr>
                <a:srgbClr val="000000"/>
              </a:buClr>
              <a:buSzPts val="1841"/>
              <a:buFont typeface="Arial"/>
              <a:buNone/>
            </a:pPr>
            <a:r>
              <a:rPr b="0" i="0" lang="en-US" sz="1841" u="none" cap="none" strike="noStrike">
                <a:solidFill>
                  <a:srgbClr val="FFFFFF"/>
                </a:solidFill>
                <a:latin typeface="Arial"/>
                <a:ea typeface="Arial"/>
                <a:cs typeface="Arial"/>
                <a:sym typeface="Arial"/>
              </a:rPr>
              <a:t>Historias de Usuario y tareas organizadas con tableros Kanban para seguimiento transparente del trabajo.</a:t>
            </a:r>
            <a:endParaRPr b="0" i="0" sz="1400" u="none" cap="none" strike="noStrike">
              <a:solidFill>
                <a:srgbClr val="000000"/>
              </a:solidFill>
              <a:latin typeface="Arial"/>
              <a:ea typeface="Arial"/>
              <a:cs typeface="Arial"/>
              <a:sym typeface="Arial"/>
            </a:endParaRPr>
          </a:p>
        </p:txBody>
      </p:sp>
      <p:grpSp>
        <p:nvGrpSpPr>
          <p:cNvPr id="218" name="Google Shape;218;p7"/>
          <p:cNvGrpSpPr/>
          <p:nvPr/>
        </p:nvGrpSpPr>
        <p:grpSpPr>
          <a:xfrm>
            <a:off x="10603062" y="4449400"/>
            <a:ext cx="1476315" cy="1476315"/>
            <a:chOff x="0" y="0"/>
            <a:chExt cx="812800" cy="812800"/>
          </a:xfrm>
        </p:grpSpPr>
        <p:sp>
          <p:nvSpPr>
            <p:cNvPr id="219" name="Google Shape;219;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7"/>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444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1" name="Google Shape;221;p7"/>
          <p:cNvSpPr/>
          <p:nvPr/>
        </p:nvSpPr>
        <p:spPr>
          <a:xfrm>
            <a:off x="10913219" y="4736575"/>
            <a:ext cx="896151" cy="799775"/>
          </a:xfrm>
          <a:custGeom>
            <a:rect b="b" l="l" r="r" t="t"/>
            <a:pathLst>
              <a:path extrusionOk="0" h="799775" w="896151">
                <a:moveTo>
                  <a:pt x="0" y="0"/>
                </a:moveTo>
                <a:lnTo>
                  <a:pt x="896151" y="0"/>
                </a:lnTo>
                <a:lnTo>
                  <a:pt x="896151" y="799775"/>
                </a:lnTo>
                <a:lnTo>
                  <a:pt x="0" y="799775"/>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 name="Google Shape;222;p7"/>
          <p:cNvSpPr/>
          <p:nvPr/>
        </p:nvSpPr>
        <p:spPr>
          <a:xfrm>
            <a:off x="9729924" y="3977043"/>
            <a:ext cx="3018408" cy="4765398"/>
          </a:xfrm>
          <a:prstGeom prst="roundRect">
            <a:avLst>
              <a:gd fmla="val 16667" name="adj"/>
            </a:avLst>
          </a:prstGeom>
          <a:noFill/>
          <a:ln cap="flat" cmpd="sng" w="28575">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3" name="Google Shape;223;p7"/>
          <p:cNvSpPr txBox="1"/>
          <p:nvPr/>
        </p:nvSpPr>
        <p:spPr>
          <a:xfrm>
            <a:off x="5768162" y="6189537"/>
            <a:ext cx="2453100" cy="2267400"/>
          </a:xfrm>
          <a:prstGeom prst="rect">
            <a:avLst/>
          </a:prstGeom>
          <a:noFill/>
          <a:ln>
            <a:noFill/>
          </a:ln>
        </p:spPr>
        <p:txBody>
          <a:bodyPr anchorCtr="0" anchor="t" bIns="0" lIns="0" spcFirstLastPara="1" rIns="0" wrap="square" tIns="0">
            <a:spAutoFit/>
          </a:bodyPr>
          <a:lstStyle/>
          <a:p>
            <a:pPr indent="0" lvl="0" marL="0" marR="0" rtl="0" algn="ctr">
              <a:lnSpc>
                <a:spcPct val="140032"/>
              </a:lnSpc>
              <a:spcBef>
                <a:spcPts val="0"/>
              </a:spcBef>
              <a:spcAft>
                <a:spcPts val="0"/>
              </a:spcAft>
              <a:buNone/>
            </a:pPr>
            <a:r>
              <a:rPr b="1" i="0" lang="en-US" sz="1841" u="none" cap="none" strike="noStrike">
                <a:solidFill>
                  <a:srgbClr val="0B939D"/>
                </a:solidFill>
                <a:latin typeface="Arial"/>
                <a:ea typeface="Arial"/>
                <a:cs typeface="Arial"/>
                <a:sym typeface="Arial"/>
              </a:rPr>
              <a:t>Sprint de </a:t>
            </a:r>
            <a:r>
              <a:rPr b="1" lang="en-US" sz="1841">
                <a:solidFill>
                  <a:srgbClr val="0B939D"/>
                </a:solidFill>
              </a:rPr>
              <a:t>2</a:t>
            </a:r>
            <a:r>
              <a:rPr b="1" i="0" lang="en-US" sz="1841" u="none" cap="none" strike="noStrike">
                <a:solidFill>
                  <a:srgbClr val="0B939D"/>
                </a:solidFill>
                <a:latin typeface="Arial"/>
                <a:ea typeface="Arial"/>
                <a:cs typeface="Arial"/>
                <a:sym typeface="Arial"/>
              </a:rPr>
              <a:t> Seman</a:t>
            </a:r>
            <a:r>
              <a:rPr b="1" lang="en-US" sz="1841">
                <a:solidFill>
                  <a:srgbClr val="0B939D"/>
                </a:solidFill>
              </a:rPr>
              <a:t>as</a:t>
            </a:r>
            <a:endParaRPr/>
          </a:p>
          <a:p>
            <a:pPr indent="0" lvl="0" marL="0" marR="0" rtl="0" algn="ctr">
              <a:lnSpc>
                <a:spcPct val="140032"/>
              </a:lnSpc>
              <a:spcBef>
                <a:spcPts val="0"/>
              </a:spcBef>
              <a:spcAft>
                <a:spcPts val="0"/>
              </a:spcAft>
              <a:buClr>
                <a:srgbClr val="000000"/>
              </a:buClr>
              <a:buSzPts val="1841"/>
              <a:buFont typeface="Arial"/>
              <a:buNone/>
            </a:pPr>
            <a:r>
              <a:rPr b="0" i="0" lang="en-US" sz="1841" u="none" cap="none" strike="noStrike">
                <a:solidFill>
                  <a:srgbClr val="FFFFFF"/>
                </a:solidFill>
                <a:latin typeface="Arial"/>
                <a:ea typeface="Arial"/>
                <a:cs typeface="Arial"/>
                <a:sym typeface="Arial"/>
              </a:rPr>
              <a:t>Iteraciones cortas que permiten feedback rápido, ajustes ágiles y visibilidad constante del progreso.</a:t>
            </a:r>
            <a:endParaRPr b="0" i="0" sz="1400" u="none" cap="none" strike="noStrike">
              <a:solidFill>
                <a:srgbClr val="000000"/>
              </a:solidFill>
              <a:latin typeface="Arial"/>
              <a:ea typeface="Arial"/>
              <a:cs typeface="Arial"/>
              <a:sym typeface="Arial"/>
            </a:endParaRPr>
          </a:p>
        </p:txBody>
      </p:sp>
      <p:grpSp>
        <p:nvGrpSpPr>
          <p:cNvPr id="224" name="Google Shape;224;p7"/>
          <p:cNvGrpSpPr/>
          <p:nvPr/>
        </p:nvGrpSpPr>
        <p:grpSpPr>
          <a:xfrm>
            <a:off x="6190749" y="4449400"/>
            <a:ext cx="1476315" cy="1476315"/>
            <a:chOff x="0" y="0"/>
            <a:chExt cx="812800" cy="812800"/>
          </a:xfrm>
        </p:grpSpPr>
        <p:sp>
          <p:nvSpPr>
            <p:cNvPr id="225" name="Google Shape;225;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7"/>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444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7" name="Google Shape;227;p7"/>
          <p:cNvSpPr/>
          <p:nvPr/>
        </p:nvSpPr>
        <p:spPr>
          <a:xfrm>
            <a:off x="6490247" y="4733082"/>
            <a:ext cx="863822" cy="862553"/>
          </a:xfrm>
          <a:custGeom>
            <a:rect b="b" l="l" r="r" t="t"/>
            <a:pathLst>
              <a:path extrusionOk="0" h="862553" w="863822">
                <a:moveTo>
                  <a:pt x="0" y="0"/>
                </a:moveTo>
                <a:lnTo>
                  <a:pt x="863822" y="0"/>
                </a:lnTo>
                <a:lnTo>
                  <a:pt x="863822" y="862554"/>
                </a:lnTo>
                <a:lnTo>
                  <a:pt x="0" y="862554"/>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 name="Google Shape;228;p7"/>
          <p:cNvSpPr/>
          <p:nvPr/>
        </p:nvSpPr>
        <p:spPr>
          <a:xfrm>
            <a:off x="5575742" y="3976993"/>
            <a:ext cx="3018300" cy="4765500"/>
          </a:xfrm>
          <a:prstGeom prst="roundRect">
            <a:avLst>
              <a:gd fmla="val 16667" name="adj"/>
            </a:avLst>
          </a:prstGeom>
          <a:noFill/>
          <a:ln cap="flat" cmpd="sng" w="28575">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4" name="Google Shape;234;p8"/>
          <p:cNvSpPr txBox="1"/>
          <p:nvPr/>
        </p:nvSpPr>
        <p:spPr>
          <a:xfrm>
            <a:off x="962025" y="789420"/>
            <a:ext cx="11707880" cy="1276503"/>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6381"/>
              <a:buFont typeface="Arial"/>
              <a:buNone/>
            </a:pPr>
            <a:r>
              <a:rPr b="1" i="0" lang="en-US" sz="6381" u="none" cap="none" strike="noStrike">
                <a:solidFill>
                  <a:schemeClr val="lt1"/>
                </a:solidFill>
                <a:latin typeface="Arial"/>
                <a:ea typeface="Arial"/>
                <a:cs typeface="Arial"/>
                <a:sym typeface="Arial"/>
              </a:rPr>
              <a:t>Release</a:t>
            </a:r>
            <a:r>
              <a:rPr b="1" i="0" lang="en-US" sz="6381" u="none" cap="none" strike="noStrike">
                <a:solidFill>
                  <a:srgbClr val="006FB4"/>
                </a:solidFill>
                <a:latin typeface="Arial"/>
                <a:ea typeface="Arial"/>
                <a:cs typeface="Arial"/>
                <a:sym typeface="Arial"/>
              </a:rPr>
              <a:t> </a:t>
            </a:r>
            <a:r>
              <a:rPr b="1" i="0" lang="en-US" sz="6381" u="none" cap="none" strike="noStrike">
                <a:solidFill>
                  <a:srgbClr val="0B939D"/>
                </a:solidFill>
                <a:latin typeface="Arial"/>
                <a:ea typeface="Arial"/>
                <a:cs typeface="Arial"/>
                <a:sym typeface="Arial"/>
              </a:rPr>
              <a:t>Plan</a:t>
            </a:r>
            <a:endParaRPr/>
          </a:p>
        </p:txBody>
      </p:sp>
      <p:cxnSp>
        <p:nvCxnSpPr>
          <p:cNvPr id="235" name="Google Shape;235;p8"/>
          <p:cNvCxnSpPr/>
          <p:nvPr/>
        </p:nvCxnSpPr>
        <p:spPr>
          <a:xfrm>
            <a:off x="962025" y="1984321"/>
            <a:ext cx="3805284" cy="0"/>
          </a:xfrm>
          <a:prstGeom prst="straightConnector1">
            <a:avLst/>
          </a:prstGeom>
          <a:noFill/>
          <a:ln cap="flat" cmpd="sng" w="34925">
            <a:solidFill>
              <a:srgbClr val="0B939D"/>
            </a:solidFill>
            <a:prstDash val="solid"/>
            <a:round/>
            <a:headEnd len="sm" w="sm" type="none"/>
            <a:tailEnd len="sm" w="sm" type="none"/>
          </a:ln>
          <a:effectLst>
            <a:outerShdw blurRad="40000" rotWithShape="0" dir="5400000" dist="23000">
              <a:srgbClr val="000000">
                <a:alpha val="34901"/>
              </a:srgbClr>
            </a:outerShdw>
          </a:effectLst>
        </p:spPr>
      </p:cxnSp>
      <p:pic>
        <p:nvPicPr>
          <p:cNvPr id="236" name="Google Shape;236;p8"/>
          <p:cNvPicPr preferRelativeResize="0"/>
          <p:nvPr/>
        </p:nvPicPr>
        <p:blipFill rotWithShape="1">
          <a:blip r:embed="rId4">
            <a:alphaModFix/>
          </a:blip>
          <a:srcRect b="0" l="0" r="0" t="18763"/>
          <a:stretch/>
        </p:blipFill>
        <p:spPr>
          <a:xfrm>
            <a:off x="559657" y="2216273"/>
            <a:ext cx="17098028" cy="728130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grpSp>
        <p:nvGrpSpPr>
          <p:cNvPr id="241" name="Google Shape;241;p9"/>
          <p:cNvGrpSpPr/>
          <p:nvPr/>
        </p:nvGrpSpPr>
        <p:grpSpPr>
          <a:xfrm>
            <a:off x="0" y="119078"/>
            <a:ext cx="18288000" cy="10287000"/>
            <a:chOff x="0" y="0"/>
            <a:chExt cx="18288000" cy="10287000"/>
          </a:xfrm>
        </p:grpSpPr>
        <p:sp>
          <p:nvSpPr>
            <p:cNvPr id="242" name="Google Shape;242;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3" name="Google Shape;243;p9"/>
            <p:cNvSpPr/>
            <p:nvPr/>
          </p:nvSpPr>
          <p:spPr>
            <a:xfrm>
              <a:off x="5170966" y="2458933"/>
              <a:ext cx="8727066" cy="6947584"/>
            </a:xfrm>
            <a:custGeom>
              <a:rect b="b" l="l" r="r" t="t"/>
              <a:pathLst>
                <a:path extrusionOk="0" h="2355827" w="2959224">
                  <a:moveTo>
                    <a:pt x="12420" y="0"/>
                  </a:moveTo>
                  <a:lnTo>
                    <a:pt x="2946805" y="0"/>
                  </a:lnTo>
                  <a:cubicBezTo>
                    <a:pt x="2953664" y="0"/>
                    <a:pt x="2959224" y="5560"/>
                    <a:pt x="2959224" y="12420"/>
                  </a:cubicBezTo>
                  <a:lnTo>
                    <a:pt x="2959224" y="2343408"/>
                  </a:lnTo>
                  <a:cubicBezTo>
                    <a:pt x="2959224" y="2350267"/>
                    <a:pt x="2953664" y="2355827"/>
                    <a:pt x="2946805" y="2355827"/>
                  </a:cubicBezTo>
                  <a:lnTo>
                    <a:pt x="12420" y="2355827"/>
                  </a:lnTo>
                  <a:cubicBezTo>
                    <a:pt x="5560" y="2355827"/>
                    <a:pt x="0" y="2350267"/>
                    <a:pt x="0" y="2343408"/>
                  </a:cubicBezTo>
                  <a:lnTo>
                    <a:pt x="0" y="12420"/>
                  </a:lnTo>
                  <a:cubicBezTo>
                    <a:pt x="0" y="5560"/>
                    <a:pt x="5560" y="0"/>
                    <a:pt x="12420" y="0"/>
                  </a:cubicBezTo>
                  <a:close/>
                </a:path>
              </a:pathLst>
            </a:custGeom>
            <a:blipFill rotWithShape="1">
              <a:blip r:embed="rId4">
                <a:alphaModFix amt="50000"/>
              </a:blip>
              <a:stretch>
                <a:fillRect b="-794" l="0" r="0" t="-794"/>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4" name="Google Shape;244;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5">
              <a:alphaModFix/>
            </a:blip>
            <a:stretch>
              <a:fillRect b="-9222" l="0" r="0" t="-92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5" name="Google Shape;245;p9"/>
          <p:cNvSpPr/>
          <p:nvPr/>
        </p:nvSpPr>
        <p:spPr>
          <a:xfrm>
            <a:off x="1065320" y="2789289"/>
            <a:ext cx="15962051" cy="2681057"/>
          </a:xfrm>
          <a:custGeom>
            <a:rect b="b" l="l" r="r" t="t"/>
            <a:pathLst>
              <a:path extrusionOk="0" h="870405" w="2564431">
                <a:moveTo>
                  <a:pt x="17252" y="0"/>
                </a:moveTo>
                <a:lnTo>
                  <a:pt x="2547179" y="0"/>
                </a:lnTo>
                <a:cubicBezTo>
                  <a:pt x="2551755" y="0"/>
                  <a:pt x="2556143" y="1818"/>
                  <a:pt x="2559378" y="5053"/>
                </a:cubicBezTo>
                <a:cubicBezTo>
                  <a:pt x="2562613" y="8288"/>
                  <a:pt x="2564431" y="12676"/>
                  <a:pt x="2564431" y="17252"/>
                </a:cubicBezTo>
                <a:lnTo>
                  <a:pt x="2564431" y="853153"/>
                </a:lnTo>
                <a:cubicBezTo>
                  <a:pt x="2564431" y="857729"/>
                  <a:pt x="2562613" y="862117"/>
                  <a:pt x="2559378" y="865352"/>
                </a:cubicBezTo>
                <a:cubicBezTo>
                  <a:pt x="2556143" y="868587"/>
                  <a:pt x="2551755" y="870405"/>
                  <a:pt x="2547179" y="870405"/>
                </a:cubicBezTo>
                <a:lnTo>
                  <a:pt x="17252" y="870405"/>
                </a:lnTo>
                <a:cubicBezTo>
                  <a:pt x="12676" y="870405"/>
                  <a:pt x="8288" y="868587"/>
                  <a:pt x="5053" y="865352"/>
                </a:cubicBezTo>
                <a:cubicBezTo>
                  <a:pt x="1818" y="862117"/>
                  <a:pt x="0" y="857729"/>
                  <a:pt x="0" y="853153"/>
                </a:cubicBezTo>
                <a:lnTo>
                  <a:pt x="0" y="17252"/>
                </a:lnTo>
                <a:cubicBezTo>
                  <a:pt x="0" y="12676"/>
                  <a:pt x="1818" y="8288"/>
                  <a:pt x="5053" y="5053"/>
                </a:cubicBezTo>
                <a:cubicBezTo>
                  <a:pt x="8288" y="1818"/>
                  <a:pt x="12676" y="0"/>
                  <a:pt x="17252" y="0"/>
                </a:cubicBezTo>
                <a:close/>
              </a:path>
            </a:pathLst>
          </a:custGeom>
          <a:blipFill rotWithShape="1">
            <a:blip r:embed="rId6">
              <a:alphaModFix/>
            </a:blip>
            <a:stretch>
              <a:fillRect b="-86146" l="-9245" r="-17562" t="-135656"/>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9"/>
          <p:cNvSpPr txBox="1"/>
          <p:nvPr/>
        </p:nvSpPr>
        <p:spPr>
          <a:xfrm>
            <a:off x="1318787" y="6266571"/>
            <a:ext cx="7499907" cy="1704510"/>
          </a:xfrm>
          <a:prstGeom prst="rect">
            <a:avLst/>
          </a:prstGeom>
          <a:noFill/>
          <a:ln>
            <a:noFill/>
          </a:ln>
        </p:spPr>
        <p:txBody>
          <a:bodyPr anchorCtr="0" anchor="t" bIns="0" lIns="0" spcFirstLastPara="1" rIns="0" wrap="square" tIns="0">
            <a:spAutoFit/>
          </a:bodyPr>
          <a:lstStyle/>
          <a:p>
            <a:pPr indent="0" lvl="0" marL="0" marR="0" rtl="0" algn="just">
              <a:lnSpc>
                <a:spcPct val="140033"/>
              </a:lnSpc>
              <a:spcBef>
                <a:spcPts val="0"/>
              </a:spcBef>
              <a:spcAft>
                <a:spcPts val="0"/>
              </a:spcAft>
              <a:buClr>
                <a:srgbClr val="000000"/>
              </a:buClr>
              <a:buSzPts val="2398"/>
              <a:buFont typeface="Arial"/>
              <a:buNone/>
            </a:pPr>
            <a:r>
              <a:rPr b="0" i="0" lang="en-US" sz="2398" u="none" cap="none" strike="noStrike">
                <a:solidFill>
                  <a:srgbClr val="FFFFFF"/>
                </a:solidFill>
                <a:latin typeface="Arial"/>
                <a:ea typeface="Arial"/>
                <a:cs typeface="Arial"/>
                <a:sym typeface="Arial"/>
              </a:rPr>
              <a:t>Omitimos la autenticación estándar para enfocarnos en la recopilación de datos biométricos, que es lo que realmente alimenta a nuestra IA.</a:t>
            </a:r>
            <a:endParaRPr b="0" i="0" sz="1400" u="none" cap="none" strike="noStrike">
              <a:solidFill>
                <a:srgbClr val="000000"/>
              </a:solidFill>
              <a:latin typeface="Arial"/>
              <a:ea typeface="Arial"/>
              <a:cs typeface="Arial"/>
              <a:sym typeface="Arial"/>
            </a:endParaRPr>
          </a:p>
        </p:txBody>
      </p:sp>
      <p:sp>
        <p:nvSpPr>
          <p:cNvPr id="247" name="Google Shape;247;p9"/>
          <p:cNvSpPr txBox="1"/>
          <p:nvPr/>
        </p:nvSpPr>
        <p:spPr>
          <a:xfrm>
            <a:off x="9370222" y="6266571"/>
            <a:ext cx="7499907" cy="1704510"/>
          </a:xfrm>
          <a:prstGeom prst="rect">
            <a:avLst/>
          </a:prstGeom>
          <a:noFill/>
          <a:ln>
            <a:noFill/>
          </a:ln>
        </p:spPr>
        <p:txBody>
          <a:bodyPr anchorCtr="0" anchor="t" bIns="0" lIns="0" spcFirstLastPara="1" rIns="0" wrap="square" tIns="0">
            <a:spAutoFit/>
          </a:bodyPr>
          <a:lstStyle/>
          <a:p>
            <a:pPr indent="0" lvl="0" marL="0" marR="0" rtl="0" algn="just">
              <a:lnSpc>
                <a:spcPct val="140033"/>
              </a:lnSpc>
              <a:spcBef>
                <a:spcPts val="0"/>
              </a:spcBef>
              <a:spcAft>
                <a:spcPts val="0"/>
              </a:spcAft>
              <a:buClr>
                <a:srgbClr val="000000"/>
              </a:buClr>
              <a:buSzPts val="2398"/>
              <a:buFont typeface="Arial"/>
              <a:buNone/>
            </a:pPr>
            <a:r>
              <a:rPr b="0" i="0" lang="en-US" sz="2398" u="none" cap="none" strike="noStrike">
                <a:solidFill>
                  <a:srgbClr val="FFFFFF"/>
                </a:solidFill>
                <a:latin typeface="Arial"/>
                <a:ea typeface="Arial"/>
                <a:cs typeface="Arial"/>
                <a:sym typeface="Arial"/>
              </a:rPr>
              <a:t>El proceso de onboarding captura información clave del usuario: objetivos fitness, métricas corporales, preferencias alimentarias y nivel de actividad actual.</a:t>
            </a:r>
            <a:endParaRPr b="0" i="0" sz="1400" u="none" cap="none" strike="noStrike">
              <a:solidFill>
                <a:srgbClr val="000000"/>
              </a:solidFill>
              <a:latin typeface="Arial"/>
              <a:ea typeface="Arial"/>
              <a:cs typeface="Arial"/>
              <a:sym typeface="Arial"/>
            </a:endParaRPr>
          </a:p>
        </p:txBody>
      </p:sp>
      <p:sp>
        <p:nvSpPr>
          <p:cNvPr id="248" name="Google Shape;248;p9"/>
          <p:cNvSpPr txBox="1"/>
          <p:nvPr/>
        </p:nvSpPr>
        <p:spPr>
          <a:xfrm>
            <a:off x="888106" y="789420"/>
            <a:ext cx="15198231" cy="1276503"/>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6381"/>
              <a:buFont typeface="Arial"/>
              <a:buNone/>
            </a:pPr>
            <a:r>
              <a:rPr b="1" i="0" lang="en-US" sz="6381" u="none" cap="none" strike="noStrike">
                <a:solidFill>
                  <a:srgbClr val="006FB4"/>
                </a:solidFill>
                <a:latin typeface="Arial"/>
                <a:ea typeface="Arial"/>
                <a:cs typeface="Arial"/>
                <a:sym typeface="Arial"/>
              </a:rPr>
              <a:t>Evidencia: Onboarding y Perfilamiento</a:t>
            </a:r>
            <a:endParaRPr/>
          </a:p>
        </p:txBody>
      </p:sp>
      <p:cxnSp>
        <p:nvCxnSpPr>
          <p:cNvPr id="249" name="Google Shape;249;p9"/>
          <p:cNvCxnSpPr/>
          <p:nvPr/>
        </p:nvCxnSpPr>
        <p:spPr>
          <a:xfrm>
            <a:off x="962025" y="1984321"/>
            <a:ext cx="3805284" cy="0"/>
          </a:xfrm>
          <a:prstGeom prst="straightConnector1">
            <a:avLst/>
          </a:prstGeom>
          <a:noFill/>
          <a:ln cap="flat" cmpd="sng" w="34925">
            <a:solidFill>
              <a:srgbClr val="396498"/>
            </a:solidFill>
            <a:prstDash val="solid"/>
            <a:round/>
            <a:headEnd len="sm" w="sm" type="none"/>
            <a:tailEnd len="sm" w="sm" type="none"/>
          </a:ln>
          <a:effectLst>
            <a:outerShdw blurRad="40000" rotWithShape="0" dir="5400000" dist="23000">
              <a:srgbClr val="000000">
                <a:alpha val="34901"/>
              </a:srgbClr>
            </a:outerShdw>
          </a:effectLst>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0"/>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5" name="Google Shape;255;p10"/>
          <p:cNvSpPr/>
          <p:nvPr/>
        </p:nvSpPr>
        <p:spPr>
          <a:xfrm>
            <a:off x="8710908" y="419714"/>
            <a:ext cx="9368942" cy="7458579"/>
          </a:xfrm>
          <a:custGeom>
            <a:rect b="b" l="l" r="r" t="t"/>
            <a:pathLst>
              <a:path extrusionOk="0" h="2355827" w="2959224">
                <a:moveTo>
                  <a:pt x="11569" y="0"/>
                </a:moveTo>
                <a:lnTo>
                  <a:pt x="2947656" y="0"/>
                </a:lnTo>
                <a:cubicBezTo>
                  <a:pt x="2954045" y="0"/>
                  <a:pt x="2959224" y="5180"/>
                  <a:pt x="2959224" y="11569"/>
                </a:cubicBezTo>
                <a:lnTo>
                  <a:pt x="2959224" y="2344259"/>
                </a:lnTo>
                <a:cubicBezTo>
                  <a:pt x="2959224" y="2350648"/>
                  <a:pt x="2954045" y="2355827"/>
                  <a:pt x="2947656" y="2355827"/>
                </a:cubicBezTo>
                <a:lnTo>
                  <a:pt x="11569" y="2355827"/>
                </a:lnTo>
                <a:cubicBezTo>
                  <a:pt x="5180" y="2355827"/>
                  <a:pt x="0" y="2350648"/>
                  <a:pt x="0" y="2344259"/>
                </a:cubicBezTo>
                <a:lnTo>
                  <a:pt x="0" y="11569"/>
                </a:lnTo>
                <a:cubicBezTo>
                  <a:pt x="0" y="5180"/>
                  <a:pt x="5180" y="0"/>
                  <a:pt x="11569" y="0"/>
                </a:cubicBezTo>
                <a:close/>
              </a:path>
            </a:pathLst>
          </a:custGeom>
          <a:blipFill rotWithShape="1">
            <a:blip r:embed="rId4">
              <a:alphaModFix/>
            </a:blip>
            <a:stretch>
              <a:fillRect b="-1281" l="0" r="0" t="-2035"/>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6" name="Google Shape;256;p10"/>
          <p:cNvGrpSpPr/>
          <p:nvPr/>
        </p:nvGrpSpPr>
        <p:grpSpPr>
          <a:xfrm>
            <a:off x="10081851" y="7710837"/>
            <a:ext cx="6727507" cy="2451032"/>
            <a:chOff x="0" y="-76200"/>
            <a:chExt cx="1637439" cy="596568"/>
          </a:xfrm>
        </p:grpSpPr>
        <p:sp>
          <p:nvSpPr>
            <p:cNvPr id="257" name="Google Shape;257;p10"/>
            <p:cNvSpPr/>
            <p:nvPr/>
          </p:nvSpPr>
          <p:spPr>
            <a:xfrm>
              <a:off x="0" y="0"/>
              <a:ext cx="1637439" cy="520368"/>
            </a:xfrm>
            <a:custGeom>
              <a:rect b="b" l="l" r="r" t="t"/>
              <a:pathLst>
                <a:path extrusionOk="0" h="520368" w="1637439">
                  <a:moveTo>
                    <a:pt x="16111" y="0"/>
                  </a:moveTo>
                  <a:lnTo>
                    <a:pt x="1621328" y="0"/>
                  </a:lnTo>
                  <a:cubicBezTo>
                    <a:pt x="1630226" y="0"/>
                    <a:pt x="1637439" y="7213"/>
                    <a:pt x="1637439" y="16111"/>
                  </a:cubicBezTo>
                  <a:lnTo>
                    <a:pt x="1637439" y="504257"/>
                  </a:lnTo>
                  <a:cubicBezTo>
                    <a:pt x="1637439" y="513155"/>
                    <a:pt x="1630226" y="520368"/>
                    <a:pt x="1621328" y="520368"/>
                  </a:cubicBezTo>
                  <a:lnTo>
                    <a:pt x="16111" y="520368"/>
                  </a:lnTo>
                  <a:cubicBezTo>
                    <a:pt x="7213" y="520368"/>
                    <a:pt x="0" y="513155"/>
                    <a:pt x="0" y="504257"/>
                  </a:cubicBezTo>
                  <a:lnTo>
                    <a:pt x="0" y="16111"/>
                  </a:lnTo>
                  <a:cubicBezTo>
                    <a:pt x="0" y="7213"/>
                    <a:pt x="7213" y="0"/>
                    <a:pt x="16111" y="0"/>
                  </a:cubicBezTo>
                  <a:close/>
                </a:path>
              </a:pathLst>
            </a:custGeom>
            <a:gradFill>
              <a:gsLst>
                <a:gs pos="0">
                  <a:srgbClr val="03295A">
                    <a:alpha val="61960"/>
                  </a:srgbClr>
                </a:gs>
                <a:gs pos="100000">
                  <a:srgbClr val="041468">
                    <a:alpha val="74509"/>
                  </a:srgbClr>
                </a:gs>
              </a:gsLst>
              <a:lin ang="0" scaled="0"/>
            </a:gradFill>
            <a:ln cap="sq" cmpd="sng" w="38100">
              <a:solidFill>
                <a:srgbClr val="10A5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0"/>
            <p:cNvSpPr txBox="1"/>
            <p:nvPr/>
          </p:nvSpPr>
          <p:spPr>
            <a:xfrm>
              <a:off x="0" y="-76200"/>
              <a:ext cx="1637439" cy="596568"/>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9" name="Google Shape;259;p10"/>
          <p:cNvSpPr/>
          <p:nvPr/>
        </p:nvSpPr>
        <p:spPr>
          <a:xfrm>
            <a:off x="10284607" y="8408773"/>
            <a:ext cx="1609910" cy="1536934"/>
          </a:xfrm>
          <a:custGeom>
            <a:rect b="b" l="l" r="r" t="t"/>
            <a:pathLst>
              <a:path extrusionOk="0" h="1536934" w="1609910">
                <a:moveTo>
                  <a:pt x="0" y="0"/>
                </a:moveTo>
                <a:lnTo>
                  <a:pt x="1609910" y="0"/>
                </a:lnTo>
                <a:lnTo>
                  <a:pt x="1609910" y="1536933"/>
                </a:lnTo>
                <a:lnTo>
                  <a:pt x="0" y="153693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Google Shape;260;p10"/>
          <p:cNvSpPr txBox="1"/>
          <p:nvPr/>
        </p:nvSpPr>
        <p:spPr>
          <a:xfrm>
            <a:off x="638486" y="4567862"/>
            <a:ext cx="7354667" cy="3015156"/>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Clr>
                <a:srgbClr val="000000"/>
              </a:buClr>
              <a:buSzPts val="2418"/>
              <a:buFont typeface="Arial"/>
              <a:buNone/>
            </a:pPr>
            <a:r>
              <a:rPr b="0" i="0" lang="en-US" sz="2418" u="none" cap="none" strike="noStrike">
                <a:solidFill>
                  <a:srgbClr val="FFFFFF"/>
                </a:solidFill>
                <a:latin typeface="Arial"/>
                <a:ea typeface="Arial"/>
                <a:cs typeface="Arial"/>
                <a:sym typeface="Arial"/>
              </a:rPr>
              <a:t>Aquí se observa la integración del chat con IA. El usuario no solo visualiza datos estáticos, sino que interactúa activamente con un coach virtual que comprende su contexto personal, historial de entrenamiento y objetivos específicos para ofrecer recomendaciones personalizadas en tiempo real.</a:t>
            </a:r>
            <a:endParaRPr b="0" i="0" sz="1400" u="none" cap="none" strike="noStrike">
              <a:solidFill>
                <a:srgbClr val="000000"/>
              </a:solidFill>
              <a:latin typeface="Arial"/>
              <a:ea typeface="Arial"/>
              <a:cs typeface="Arial"/>
              <a:sym typeface="Arial"/>
            </a:endParaRPr>
          </a:p>
        </p:txBody>
      </p:sp>
      <p:sp>
        <p:nvSpPr>
          <p:cNvPr id="261" name="Google Shape;261;p10"/>
          <p:cNvSpPr txBox="1"/>
          <p:nvPr/>
        </p:nvSpPr>
        <p:spPr>
          <a:xfrm>
            <a:off x="638486" y="2218208"/>
            <a:ext cx="8053372" cy="2157060"/>
          </a:xfrm>
          <a:prstGeom prst="rect">
            <a:avLst/>
          </a:prstGeom>
          <a:noFill/>
          <a:ln>
            <a:noFill/>
          </a:ln>
        </p:spPr>
        <p:txBody>
          <a:bodyPr anchorCtr="0" anchor="t" bIns="0" lIns="0" spcFirstLastPara="1" rIns="0" wrap="square" tIns="0">
            <a:spAutoFit/>
          </a:bodyPr>
          <a:lstStyle/>
          <a:p>
            <a:pPr indent="0" lvl="0" marL="0" marR="0" rtl="0" algn="l">
              <a:lnSpc>
                <a:spcPct val="130026"/>
              </a:lnSpc>
              <a:spcBef>
                <a:spcPts val="0"/>
              </a:spcBef>
              <a:spcAft>
                <a:spcPts val="0"/>
              </a:spcAft>
              <a:buClr>
                <a:srgbClr val="000000"/>
              </a:buClr>
              <a:buSzPts val="6401"/>
              <a:buFont typeface="Arial"/>
              <a:buNone/>
            </a:pPr>
            <a:r>
              <a:rPr b="0" i="0" lang="en-US" sz="6402" u="none" cap="none" strike="noStrike">
                <a:solidFill>
                  <a:srgbClr val="FFFFFF"/>
                </a:solidFill>
                <a:latin typeface="Arial"/>
                <a:ea typeface="Arial"/>
                <a:cs typeface="Arial"/>
                <a:sym typeface="Arial"/>
              </a:rPr>
              <a:t>Evidencia: Dashboard y Coach IA</a:t>
            </a:r>
            <a:endParaRPr b="0" i="0" sz="1400" u="none" cap="none" strike="noStrike">
              <a:solidFill>
                <a:srgbClr val="000000"/>
              </a:solidFill>
              <a:latin typeface="Arial"/>
              <a:ea typeface="Arial"/>
              <a:cs typeface="Arial"/>
              <a:sym typeface="Arial"/>
            </a:endParaRPr>
          </a:p>
        </p:txBody>
      </p:sp>
      <p:sp>
        <p:nvSpPr>
          <p:cNvPr id="262" name="Google Shape;262;p10"/>
          <p:cNvSpPr txBox="1"/>
          <p:nvPr/>
        </p:nvSpPr>
        <p:spPr>
          <a:xfrm>
            <a:off x="12200073" y="8266646"/>
            <a:ext cx="4120658" cy="1549515"/>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Clr>
                <a:srgbClr val="000000"/>
              </a:buClr>
              <a:buSzPts val="1745"/>
              <a:buFont typeface="Arial"/>
              <a:buNone/>
            </a:pPr>
            <a:r>
              <a:rPr b="0" i="0" lang="en-US" sz="1745" u="none" cap="none" strike="noStrike">
                <a:solidFill>
                  <a:srgbClr val="FFFFFF"/>
                </a:solidFill>
                <a:latin typeface="Arial"/>
                <a:ea typeface="Arial"/>
                <a:cs typeface="Arial"/>
                <a:sym typeface="Arial"/>
              </a:rPr>
              <a:t>Interfaz intuitiva que combina navegación principal con asistente IA conversacional, permitiendo una experiencia de coaching personalizada 24/7.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2"/>
          <p:cNvSpPr/>
          <p:nvPr/>
        </p:nvSpPr>
        <p:spPr>
          <a:xfrm>
            <a:off x="0" y="-51264"/>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12"/>
          <p:cNvSpPr txBox="1"/>
          <p:nvPr/>
        </p:nvSpPr>
        <p:spPr>
          <a:xfrm>
            <a:off x="1485699" y="2245647"/>
            <a:ext cx="9536271" cy="1146596"/>
          </a:xfrm>
          <a:prstGeom prst="rect">
            <a:avLst/>
          </a:prstGeom>
          <a:noFill/>
          <a:ln>
            <a:noFill/>
          </a:ln>
        </p:spPr>
        <p:txBody>
          <a:bodyPr anchorCtr="0" anchor="t" bIns="0" lIns="0" spcFirstLastPara="1" rIns="0" wrap="square" tIns="0">
            <a:spAutoFit/>
          </a:bodyPr>
          <a:lstStyle/>
          <a:p>
            <a:pPr indent="0" lvl="0" marL="0" marR="0" rtl="0" algn="l">
              <a:lnSpc>
                <a:spcPct val="130001"/>
              </a:lnSpc>
              <a:spcBef>
                <a:spcPts val="0"/>
              </a:spcBef>
              <a:spcAft>
                <a:spcPts val="0"/>
              </a:spcAft>
              <a:buClr>
                <a:srgbClr val="000000"/>
              </a:buClr>
              <a:buSzPts val="6653"/>
              <a:buFont typeface="Arial"/>
              <a:buNone/>
            </a:pPr>
            <a:r>
              <a:rPr b="0" i="0" lang="en-US" sz="6653" u="none" cap="none" strike="noStrike">
                <a:solidFill>
                  <a:srgbClr val="FFFFFF"/>
                </a:solidFill>
                <a:latin typeface="Arial"/>
                <a:ea typeface="Arial"/>
                <a:cs typeface="Arial"/>
                <a:sym typeface="Arial"/>
              </a:rPr>
              <a:t>¡Gracias por su atención!</a:t>
            </a:r>
            <a:endParaRPr b="0" i="0" sz="1400" u="none" cap="none" strike="noStrike">
              <a:solidFill>
                <a:srgbClr val="000000"/>
              </a:solidFill>
              <a:latin typeface="Arial"/>
              <a:ea typeface="Arial"/>
              <a:cs typeface="Arial"/>
              <a:sym typeface="Arial"/>
            </a:endParaRPr>
          </a:p>
        </p:txBody>
      </p:sp>
      <p:sp>
        <p:nvSpPr>
          <p:cNvPr id="269" name="Google Shape;269;p12"/>
          <p:cNvSpPr txBox="1"/>
          <p:nvPr/>
        </p:nvSpPr>
        <p:spPr>
          <a:xfrm>
            <a:off x="1485699" y="4073285"/>
            <a:ext cx="8053500" cy="2154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Clr>
                <a:srgbClr val="000000"/>
              </a:buClr>
              <a:buSzPts val="2218"/>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2"/>
          <p:cNvSpPr txBox="1"/>
          <p:nvPr/>
        </p:nvSpPr>
        <p:spPr>
          <a:xfrm>
            <a:off x="1485699" y="3544009"/>
            <a:ext cx="8053372" cy="47643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Clr>
                <a:srgbClr val="000000"/>
              </a:buClr>
              <a:buSzPts val="2617"/>
              <a:buFont typeface="Arial"/>
              <a:buNone/>
            </a:pPr>
            <a:r>
              <a:rPr b="0" i="0" lang="en-US" sz="2617" u="none" cap="none" strike="noStrike">
                <a:solidFill>
                  <a:srgbClr val="FFFFFF"/>
                </a:solidFill>
                <a:latin typeface="Arial"/>
                <a:ea typeface="Arial"/>
                <a:cs typeface="Arial"/>
                <a:sym typeface="Arial"/>
              </a:rPr>
              <a:t>FitAI: El futuro del coaching inteligente</a:t>
            </a:r>
            <a:endParaRPr b="0" i="0" sz="1400" u="none" cap="none" strike="noStrike">
              <a:solidFill>
                <a:srgbClr val="000000"/>
              </a:solidFill>
              <a:latin typeface="Arial"/>
              <a:ea typeface="Arial"/>
              <a:cs typeface="Arial"/>
              <a:sym typeface="Arial"/>
            </a:endParaRPr>
          </a:p>
        </p:txBody>
      </p:sp>
      <p:sp>
        <p:nvSpPr>
          <p:cNvPr id="271" name="Google Shape;271;p12"/>
          <p:cNvSpPr txBox="1"/>
          <p:nvPr/>
        </p:nvSpPr>
        <p:spPr>
          <a:xfrm>
            <a:off x="2187675" y="5556475"/>
            <a:ext cx="5267700" cy="3414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Clr>
                <a:srgbClr val="000000"/>
              </a:buClr>
              <a:buSzPts val="2218"/>
              <a:buFont typeface="Arial"/>
              <a:buNone/>
            </a:pPr>
            <a:r>
              <a:rPr b="0" i="0" lang="en-US" sz="2218" u="none" cap="none" strike="noStrike">
                <a:solidFill>
                  <a:srgbClr val="FFFFFF"/>
                </a:solidFill>
                <a:latin typeface="Arial"/>
                <a:ea typeface="Arial"/>
                <a:cs typeface="Arial"/>
                <a:sym typeface="Arial"/>
              </a:rPr>
              <a:t>https://github.com/cchartier94/Capstone</a:t>
            </a:r>
            <a:endParaRPr b="0" i="0" sz="1400" u="none" cap="none" strike="noStrike">
              <a:solidFill>
                <a:srgbClr val="000000"/>
              </a:solidFill>
              <a:latin typeface="Arial"/>
              <a:ea typeface="Arial"/>
              <a:cs typeface="Arial"/>
              <a:sym typeface="Arial"/>
            </a:endParaRPr>
          </a:p>
        </p:txBody>
      </p:sp>
      <p:sp>
        <p:nvSpPr>
          <p:cNvPr id="272" name="Google Shape;272;p12"/>
          <p:cNvSpPr txBox="1"/>
          <p:nvPr/>
        </p:nvSpPr>
        <p:spPr>
          <a:xfrm>
            <a:off x="2187669" y="6156329"/>
            <a:ext cx="6221596" cy="792802"/>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Clr>
                <a:srgbClr val="000000"/>
              </a:buClr>
              <a:buSzPts val="2218"/>
              <a:buFont typeface="Arial"/>
              <a:buNone/>
            </a:pPr>
            <a:r>
              <a:rPr b="0" i="0" lang="en-US" sz="2218" u="none" cap="none" strike="noStrike">
                <a:solidFill>
                  <a:srgbClr val="FFFFFF"/>
                </a:solidFill>
                <a:latin typeface="Arial"/>
                <a:ea typeface="Arial"/>
                <a:cs typeface="Arial"/>
                <a:sym typeface="Arial"/>
              </a:rPr>
              <a:t>Duoc UC - Antonio Varas</a:t>
            </a:r>
            <a:endParaRPr b="0" i="0" sz="1400" u="none" cap="none" strike="noStrike">
              <a:solidFill>
                <a:srgbClr val="000000"/>
              </a:solidFill>
              <a:latin typeface="Arial"/>
              <a:ea typeface="Arial"/>
              <a:cs typeface="Arial"/>
              <a:sym typeface="Arial"/>
            </a:endParaRPr>
          </a:p>
          <a:p>
            <a:pPr indent="0" lvl="0" marL="0" marR="0" rtl="0" algn="l">
              <a:lnSpc>
                <a:spcPct val="139990"/>
              </a:lnSpc>
              <a:spcBef>
                <a:spcPts val="0"/>
              </a:spcBef>
              <a:spcAft>
                <a:spcPts val="0"/>
              </a:spcAft>
              <a:buClr>
                <a:srgbClr val="000000"/>
              </a:buClr>
              <a:buSzPts val="2218"/>
              <a:buFont typeface="Arial"/>
              <a:buNone/>
            </a:pPr>
            <a:r>
              <a:t/>
            </a:r>
            <a:endParaRPr b="0" i="0" sz="2218" u="none" cap="none" strike="noStrike">
              <a:solidFill>
                <a:srgbClr val="FFFFFF"/>
              </a:solidFill>
              <a:latin typeface="Arial"/>
              <a:ea typeface="Arial"/>
              <a:cs typeface="Arial"/>
              <a:sym typeface="Arial"/>
            </a:endParaRPr>
          </a:p>
        </p:txBody>
      </p:sp>
      <p:sp>
        <p:nvSpPr>
          <p:cNvPr id="273" name="Google Shape;273;p12"/>
          <p:cNvSpPr/>
          <p:nvPr/>
        </p:nvSpPr>
        <p:spPr>
          <a:xfrm>
            <a:off x="1485699" y="5432977"/>
            <a:ext cx="547952" cy="547952"/>
          </a:xfrm>
          <a:custGeom>
            <a:rect b="b" l="l" r="r" t="t"/>
            <a:pathLst>
              <a:path extrusionOk="0" h="547952" w="547952">
                <a:moveTo>
                  <a:pt x="0" y="0"/>
                </a:moveTo>
                <a:lnTo>
                  <a:pt x="547952" y="0"/>
                </a:lnTo>
                <a:lnTo>
                  <a:pt x="547952" y="547952"/>
                </a:lnTo>
                <a:lnTo>
                  <a:pt x="0" y="54795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12"/>
          <p:cNvSpPr/>
          <p:nvPr/>
        </p:nvSpPr>
        <p:spPr>
          <a:xfrm>
            <a:off x="1495709" y="6075353"/>
            <a:ext cx="527932" cy="527932"/>
          </a:xfrm>
          <a:custGeom>
            <a:rect b="b" l="l" r="r" t="t"/>
            <a:pathLst>
              <a:path extrusionOk="0" h="527932" w="527932">
                <a:moveTo>
                  <a:pt x="0" y="0"/>
                </a:moveTo>
                <a:lnTo>
                  <a:pt x="527932" y="0"/>
                </a:lnTo>
                <a:lnTo>
                  <a:pt x="527932" y="527932"/>
                </a:lnTo>
                <a:lnTo>
                  <a:pt x="0" y="52793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75" name="Google Shape;275;p12"/>
          <p:cNvGrpSpPr/>
          <p:nvPr/>
        </p:nvGrpSpPr>
        <p:grpSpPr>
          <a:xfrm>
            <a:off x="10257877" y="2052757"/>
            <a:ext cx="7308379" cy="7308379"/>
            <a:chOff x="6350" y="6350"/>
            <a:chExt cx="8903970" cy="8903970"/>
          </a:xfrm>
        </p:grpSpPr>
        <p:sp>
          <p:nvSpPr>
            <p:cNvPr id="276" name="Google Shape;276;p12"/>
            <p:cNvSpPr/>
            <p:nvPr/>
          </p:nvSpPr>
          <p:spPr>
            <a:xfrm>
              <a:off x="154940" y="154940"/>
              <a:ext cx="8605520" cy="8605520"/>
            </a:xfrm>
            <a:custGeom>
              <a:rect b="b" l="l" r="r" t="t"/>
              <a:pathLst>
                <a:path extrusionOk="0"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2"/>
            <p:cNvSpPr/>
            <p:nvPr/>
          </p:nvSpPr>
          <p:spPr>
            <a:xfrm>
              <a:off x="6350" y="6350"/>
              <a:ext cx="8903970" cy="8903970"/>
            </a:xfrm>
            <a:custGeom>
              <a:rect b="b" l="l" r="r" t="t"/>
              <a:pathLst>
                <a:path extrusionOk="0"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moveTo>
                    <a:pt x="4451350" y="8764270"/>
                  </a:moveTo>
                  <a:cubicBezTo>
                    <a:pt x="2073910" y="8764270"/>
                    <a:pt x="139700" y="6830060"/>
                    <a:pt x="139700" y="4451350"/>
                  </a:cubicBezTo>
                  <a:cubicBezTo>
                    <a:pt x="139700" y="2072640"/>
                    <a:pt x="2073910" y="139700"/>
                    <a:pt x="4451350" y="139700"/>
                  </a:cubicBezTo>
                  <a:cubicBezTo>
                    <a:pt x="6828790" y="139700"/>
                    <a:pt x="8764270" y="2073910"/>
                    <a:pt x="8764270" y="4451350"/>
                  </a:cubicBezTo>
                  <a:cubicBezTo>
                    <a:pt x="8764270" y="6828790"/>
                    <a:pt x="6830060" y="8764270"/>
                    <a:pt x="4451350" y="8764270"/>
                  </a:cubicBezTo>
                  <a:close/>
                  <a:moveTo>
                    <a:pt x="4451350" y="158750"/>
                  </a:moveTo>
                  <a:cubicBezTo>
                    <a:pt x="2084070" y="158750"/>
                    <a:pt x="158750" y="2084070"/>
                    <a:pt x="158750" y="4451350"/>
                  </a:cubicBezTo>
                  <a:cubicBezTo>
                    <a:pt x="158750" y="6818630"/>
                    <a:pt x="2084070" y="8743950"/>
                    <a:pt x="4451350" y="8743950"/>
                  </a:cubicBezTo>
                  <a:cubicBezTo>
                    <a:pt x="6818630" y="8743950"/>
                    <a:pt x="8743950" y="6818630"/>
                    <a:pt x="8743950" y="4451350"/>
                  </a:cubicBezTo>
                  <a:cubicBezTo>
                    <a:pt x="8743950" y="2084070"/>
                    <a:pt x="6819900" y="158750"/>
                    <a:pt x="4451350" y="15875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