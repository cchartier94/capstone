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8" roundtripDataSignature="AMtx7mhcmVkbRtKB2TL3BAE/ZaB3pizr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0.jp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9.jpg"/><Relationship Id="rId4" Type="http://schemas.openxmlformats.org/officeDocument/2006/relationships/image" Target="../media/image19.png"/><Relationship Id="rId5" Type="http://schemas.openxmlformats.org/officeDocument/2006/relationships/image" Target="../media/image9.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0.jp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0.jpg"/><Relationship Id="rId4" Type="http://schemas.openxmlformats.org/officeDocument/2006/relationships/image" Target="../media/image23.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jp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jpg"/><Relationship Id="rId4" Type="http://schemas.openxmlformats.org/officeDocument/2006/relationships/image" Target="../media/image22.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sp>
      <p:sp>
        <p:nvSpPr>
          <p:cNvPr id="85" name="Google Shape;85;p1"/>
          <p:cNvSpPr/>
          <p:nvPr/>
        </p:nvSpPr>
        <p:spPr>
          <a:xfrm>
            <a:off x="10980230" y="74372"/>
            <a:ext cx="6602483" cy="11027111"/>
          </a:xfrm>
          <a:custGeom>
            <a:rect b="b" l="l" r="r" t="t"/>
            <a:pathLst>
              <a:path extrusionOk="0" h="11027111" w="6602483">
                <a:moveTo>
                  <a:pt x="0" y="0"/>
                </a:moveTo>
                <a:lnTo>
                  <a:pt x="6602482" y="0"/>
                </a:lnTo>
                <a:lnTo>
                  <a:pt x="6602482" y="11027112"/>
                </a:lnTo>
                <a:lnTo>
                  <a:pt x="0" y="11027112"/>
                </a:lnTo>
                <a:lnTo>
                  <a:pt x="0" y="0"/>
                </a:lnTo>
                <a:close/>
              </a:path>
            </a:pathLst>
          </a:custGeom>
          <a:blipFill rotWithShape="1">
            <a:blip r:embed="rId4">
              <a:alphaModFix/>
            </a:blip>
            <a:stretch>
              <a:fillRect b="0" l="0" r="0" t="0"/>
            </a:stretch>
          </a:blipFill>
          <a:ln>
            <a:noFill/>
          </a:ln>
        </p:spPr>
      </p:sp>
      <p:grpSp>
        <p:nvGrpSpPr>
          <p:cNvPr id="86" name="Google Shape;86;p1"/>
          <p:cNvGrpSpPr/>
          <p:nvPr/>
        </p:nvGrpSpPr>
        <p:grpSpPr>
          <a:xfrm>
            <a:off x="979695" y="5931793"/>
            <a:ext cx="3319162" cy="776125"/>
            <a:chOff x="0" y="-57150"/>
            <a:chExt cx="874183" cy="204411"/>
          </a:xfrm>
        </p:grpSpPr>
        <p:sp>
          <p:nvSpPr>
            <p:cNvPr id="87" name="Google Shape;87;p1"/>
            <p:cNvSpPr/>
            <p:nvPr/>
          </p:nvSpPr>
          <p:spPr>
            <a:xfrm>
              <a:off x="0" y="0"/>
              <a:ext cx="874183" cy="147261"/>
            </a:xfrm>
            <a:custGeom>
              <a:rect b="b" l="l" r="r" t="t"/>
              <a:pathLst>
                <a:path extrusionOk="0" h="147261" w="874183">
                  <a:moveTo>
                    <a:pt x="60645" y="0"/>
                  </a:moveTo>
                  <a:lnTo>
                    <a:pt x="813538" y="0"/>
                  </a:lnTo>
                  <a:cubicBezTo>
                    <a:pt x="847031" y="0"/>
                    <a:pt x="874183" y="27152"/>
                    <a:pt x="874183" y="60645"/>
                  </a:cubicBezTo>
                  <a:lnTo>
                    <a:pt x="874183" y="86617"/>
                  </a:lnTo>
                  <a:cubicBezTo>
                    <a:pt x="874183" y="120110"/>
                    <a:pt x="847031" y="147261"/>
                    <a:pt x="813538" y="147261"/>
                  </a:cubicBezTo>
                  <a:lnTo>
                    <a:pt x="60645" y="147261"/>
                  </a:lnTo>
                  <a:cubicBezTo>
                    <a:pt x="27152" y="147261"/>
                    <a:pt x="0" y="120110"/>
                    <a:pt x="0" y="86617"/>
                  </a:cubicBezTo>
                  <a:lnTo>
                    <a:pt x="0" y="60645"/>
                  </a:lnTo>
                  <a:cubicBezTo>
                    <a:pt x="0" y="27152"/>
                    <a:pt x="27152" y="0"/>
                    <a:pt x="60645"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
            <p:cNvSpPr txBox="1"/>
            <p:nvPr/>
          </p:nvSpPr>
          <p:spPr>
            <a:xfrm>
              <a:off x="0" y="-57150"/>
              <a:ext cx="874183" cy="204411"/>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2000" u="none" cap="none" strike="noStrike">
                  <a:solidFill>
                    <a:srgbClr val="FFFFFF"/>
                  </a:solidFill>
                  <a:latin typeface="Arial"/>
                  <a:ea typeface="Arial"/>
                  <a:cs typeface="Arial"/>
                  <a:sym typeface="Arial"/>
                </a:rPr>
                <a:t>Integrantes | Sección</a:t>
              </a:r>
              <a:endParaRPr/>
            </a:p>
          </p:txBody>
        </p:sp>
      </p:grpSp>
      <p:sp>
        <p:nvSpPr>
          <p:cNvPr id="89" name="Google Shape;89;p1"/>
          <p:cNvSpPr/>
          <p:nvPr/>
        </p:nvSpPr>
        <p:spPr>
          <a:xfrm>
            <a:off x="979695" y="1488573"/>
            <a:ext cx="642067" cy="614467"/>
          </a:xfrm>
          <a:custGeom>
            <a:rect b="b" l="l" r="r" t="t"/>
            <a:pathLst>
              <a:path extrusionOk="0" h="614467" w="642067">
                <a:moveTo>
                  <a:pt x="0" y="0"/>
                </a:moveTo>
                <a:lnTo>
                  <a:pt x="642067" y="0"/>
                </a:lnTo>
                <a:lnTo>
                  <a:pt x="642067" y="614467"/>
                </a:lnTo>
                <a:lnTo>
                  <a:pt x="0" y="614467"/>
                </a:lnTo>
                <a:lnTo>
                  <a:pt x="0" y="0"/>
                </a:lnTo>
                <a:close/>
              </a:path>
            </a:pathLst>
          </a:custGeom>
          <a:blipFill rotWithShape="1">
            <a:blip r:embed="rId5">
              <a:alphaModFix/>
            </a:blip>
            <a:stretch>
              <a:fillRect b="0" l="0" r="0" t="0"/>
            </a:stretch>
          </a:blipFill>
          <a:ln>
            <a:noFill/>
          </a:ln>
        </p:spPr>
      </p:sp>
      <p:sp>
        <p:nvSpPr>
          <p:cNvPr id="90" name="Google Shape;90;p1"/>
          <p:cNvSpPr txBox="1"/>
          <p:nvPr/>
        </p:nvSpPr>
        <p:spPr>
          <a:xfrm>
            <a:off x="1028700" y="2241285"/>
            <a:ext cx="9536271" cy="1486524"/>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None/>
            </a:pPr>
            <a:r>
              <a:rPr b="0" i="0" lang="en-US" sz="8652" u="none" cap="none" strike="noStrike">
                <a:solidFill>
                  <a:srgbClr val="FFFFFF"/>
                </a:solidFill>
                <a:latin typeface="Arial"/>
                <a:ea typeface="Arial"/>
                <a:cs typeface="Arial"/>
                <a:sym typeface="Arial"/>
              </a:rPr>
              <a:t>FitAI</a:t>
            </a:r>
            <a:endParaRPr/>
          </a:p>
        </p:txBody>
      </p:sp>
      <p:sp>
        <p:nvSpPr>
          <p:cNvPr id="91" name="Google Shape;91;p1"/>
          <p:cNvSpPr txBox="1"/>
          <p:nvPr/>
        </p:nvSpPr>
        <p:spPr>
          <a:xfrm>
            <a:off x="1809321" y="1508729"/>
            <a:ext cx="1017429" cy="318595"/>
          </a:xfrm>
          <a:prstGeom prst="rect">
            <a:avLst/>
          </a:prstGeom>
          <a:noFill/>
          <a:ln>
            <a:noFill/>
          </a:ln>
        </p:spPr>
        <p:txBody>
          <a:bodyPr anchorCtr="0" anchor="t" bIns="0" lIns="0" spcFirstLastPara="1" rIns="0" wrap="square" tIns="0">
            <a:spAutoFit/>
          </a:bodyPr>
          <a:lstStyle/>
          <a:p>
            <a:pPr indent="0" lvl="0" marL="0" marR="0" rtl="0" algn="l">
              <a:lnSpc>
                <a:spcPct val="130027"/>
              </a:lnSpc>
              <a:spcBef>
                <a:spcPts val="0"/>
              </a:spcBef>
              <a:spcAft>
                <a:spcPts val="0"/>
              </a:spcAft>
              <a:buNone/>
            </a:pPr>
            <a:r>
              <a:rPr b="0" i="0" lang="en-US" sz="1845" u="none" cap="none" strike="noStrike">
                <a:solidFill>
                  <a:srgbClr val="FFFFFF"/>
                </a:solidFill>
                <a:latin typeface="Arial"/>
                <a:ea typeface="Arial"/>
                <a:cs typeface="Arial"/>
                <a:sym typeface="Arial"/>
              </a:rPr>
              <a:t>Duoc UC</a:t>
            </a:r>
            <a:endParaRPr/>
          </a:p>
        </p:txBody>
      </p:sp>
      <p:sp>
        <p:nvSpPr>
          <p:cNvPr id="92" name="Google Shape;92;p1"/>
          <p:cNvSpPr txBox="1"/>
          <p:nvPr/>
        </p:nvSpPr>
        <p:spPr>
          <a:xfrm>
            <a:off x="979695" y="4232634"/>
            <a:ext cx="8053372" cy="802118"/>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Coach Inteligente de Fitness y Nutrición</a:t>
            </a:r>
            <a:endParaRPr/>
          </a:p>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Presentación Fase 1: Análisis y Definición del Proyecto</a:t>
            </a:r>
            <a:endParaRPr/>
          </a:p>
        </p:txBody>
      </p:sp>
      <p:sp>
        <p:nvSpPr>
          <p:cNvPr id="93" name="Google Shape;93;p1"/>
          <p:cNvSpPr txBox="1"/>
          <p:nvPr/>
        </p:nvSpPr>
        <p:spPr>
          <a:xfrm>
            <a:off x="979695" y="6946044"/>
            <a:ext cx="8053500" cy="12981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Jean Villagra</a:t>
            </a:r>
            <a:endParaRPr b="0" i="0" sz="2219" u="none" cap="none" strike="noStrike">
              <a:solidFill>
                <a:srgbClr val="FFFFFF"/>
              </a:solidFill>
              <a:latin typeface="Arial"/>
              <a:ea typeface="Arial"/>
              <a:cs typeface="Arial"/>
              <a:sym typeface="Arial"/>
            </a:endParaRPr>
          </a:p>
          <a:p>
            <a:pPr indent="0" lvl="0" marL="0" marR="0" rtl="0" algn="l">
              <a:lnSpc>
                <a:spcPct val="140018"/>
              </a:lnSpc>
              <a:spcBef>
                <a:spcPts val="0"/>
              </a:spcBef>
              <a:spcAft>
                <a:spcPts val="0"/>
              </a:spcAft>
              <a:buNone/>
            </a:pPr>
            <a:r>
              <a:rPr lang="en-US" sz="2219">
                <a:solidFill>
                  <a:srgbClr val="FFFFFF"/>
                </a:solidFill>
              </a:rPr>
              <a:t>Carlos Chartier</a:t>
            </a:r>
            <a:endParaRPr sz="2219">
              <a:solidFill>
                <a:srgbClr val="FFFFFF"/>
              </a:solidFill>
            </a:endParaRPr>
          </a:p>
          <a:p>
            <a:pPr indent="0" lvl="0" marL="0" marR="0" rtl="0" algn="l">
              <a:lnSpc>
                <a:spcPct val="140018"/>
              </a:lnSpc>
              <a:spcBef>
                <a:spcPts val="0"/>
              </a:spcBef>
              <a:spcAft>
                <a:spcPts val="0"/>
              </a:spcAft>
              <a:buNone/>
            </a:pPr>
            <a:r>
              <a:rPr lang="en-US" sz="2219">
                <a:solidFill>
                  <a:srgbClr val="FFFFFF"/>
                </a:solidFill>
              </a:rPr>
              <a:t>Katherine Jerez</a:t>
            </a:r>
            <a:endParaRPr sz="2219">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sp>
      <p:grpSp>
        <p:nvGrpSpPr>
          <p:cNvPr id="99" name="Google Shape;99;p2"/>
          <p:cNvGrpSpPr/>
          <p:nvPr/>
        </p:nvGrpSpPr>
        <p:grpSpPr>
          <a:xfrm>
            <a:off x="1028700" y="3890690"/>
            <a:ext cx="1010106" cy="1467123"/>
            <a:chOff x="0" y="-57150"/>
            <a:chExt cx="205815" cy="298935"/>
          </a:xfrm>
        </p:grpSpPr>
        <p:sp>
          <p:nvSpPr>
            <p:cNvPr id="100" name="Google Shape;100;p2"/>
            <p:cNvSpPr/>
            <p:nvPr/>
          </p:nvSpPr>
          <p:spPr>
            <a:xfrm>
              <a:off x="0" y="0"/>
              <a:ext cx="205815" cy="241785"/>
            </a:xfrm>
            <a:custGeom>
              <a:rect b="b" l="l" r="r" t="t"/>
              <a:pathLst>
                <a:path extrusionOk="0" h="241785" w="205815">
                  <a:moveTo>
                    <a:pt x="0" y="0"/>
                  </a:moveTo>
                  <a:lnTo>
                    <a:pt x="205815" y="0"/>
                  </a:lnTo>
                  <a:lnTo>
                    <a:pt x="205815" y="241785"/>
                  </a:lnTo>
                  <a:lnTo>
                    <a:pt x="0" y="241785"/>
                  </a:lnTo>
                  <a:close/>
                </a:path>
              </a:pathLst>
            </a:custGeom>
            <a:gradFill>
              <a:gsLst>
                <a:gs pos="0">
                  <a:srgbClr val="10A5FF"/>
                </a:gs>
                <a:gs pos="100000">
                  <a:srgbClr val="041E4E"/>
                </a:gs>
              </a:gsLst>
              <a:lin ang="5400000" scaled="0"/>
            </a:gradFill>
            <a:ln>
              <a:noFill/>
            </a:ln>
          </p:spPr>
        </p:sp>
        <p:sp>
          <p:nvSpPr>
            <p:cNvPr id="101" name="Google Shape;101;p2"/>
            <p:cNvSpPr txBox="1"/>
            <p:nvPr/>
          </p:nvSpPr>
          <p:spPr>
            <a:xfrm>
              <a:off x="0" y="-57150"/>
              <a:ext cx="205815" cy="298935"/>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2000" u="none" cap="none" strike="noStrike">
                  <a:solidFill>
                    <a:srgbClr val="FFFFFF"/>
                  </a:solidFill>
                  <a:latin typeface="Arial"/>
                  <a:ea typeface="Arial"/>
                  <a:cs typeface="Arial"/>
                  <a:sym typeface="Arial"/>
                </a:rPr>
                <a:t>01</a:t>
              </a:r>
              <a:endParaRPr/>
            </a:p>
          </p:txBody>
        </p:sp>
      </p:grpSp>
      <p:grpSp>
        <p:nvGrpSpPr>
          <p:cNvPr id="102" name="Google Shape;102;p2"/>
          <p:cNvGrpSpPr/>
          <p:nvPr/>
        </p:nvGrpSpPr>
        <p:grpSpPr>
          <a:xfrm>
            <a:off x="1028700" y="5334506"/>
            <a:ext cx="1010106" cy="1467123"/>
            <a:chOff x="0" y="-57150"/>
            <a:chExt cx="205815" cy="298935"/>
          </a:xfrm>
        </p:grpSpPr>
        <p:sp>
          <p:nvSpPr>
            <p:cNvPr id="103" name="Google Shape;103;p2"/>
            <p:cNvSpPr/>
            <p:nvPr/>
          </p:nvSpPr>
          <p:spPr>
            <a:xfrm>
              <a:off x="0" y="0"/>
              <a:ext cx="205815" cy="241785"/>
            </a:xfrm>
            <a:custGeom>
              <a:rect b="b" l="l" r="r" t="t"/>
              <a:pathLst>
                <a:path extrusionOk="0" h="241785" w="205815">
                  <a:moveTo>
                    <a:pt x="0" y="0"/>
                  </a:moveTo>
                  <a:lnTo>
                    <a:pt x="205815" y="0"/>
                  </a:lnTo>
                  <a:lnTo>
                    <a:pt x="205815" y="241785"/>
                  </a:lnTo>
                  <a:lnTo>
                    <a:pt x="0" y="241785"/>
                  </a:lnTo>
                  <a:close/>
                </a:path>
              </a:pathLst>
            </a:custGeom>
            <a:gradFill>
              <a:gsLst>
                <a:gs pos="0">
                  <a:srgbClr val="10A5FF"/>
                </a:gs>
                <a:gs pos="100000">
                  <a:srgbClr val="041E4E"/>
                </a:gs>
              </a:gsLst>
              <a:lin ang="5400000" scaled="0"/>
            </a:gradFill>
            <a:ln>
              <a:noFill/>
            </a:ln>
          </p:spPr>
        </p:sp>
        <p:sp>
          <p:nvSpPr>
            <p:cNvPr id="104" name="Google Shape;104;p2"/>
            <p:cNvSpPr txBox="1"/>
            <p:nvPr/>
          </p:nvSpPr>
          <p:spPr>
            <a:xfrm>
              <a:off x="0" y="-57150"/>
              <a:ext cx="205815" cy="298935"/>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2000" u="none" cap="none" strike="noStrike">
                  <a:solidFill>
                    <a:srgbClr val="FFFFFF"/>
                  </a:solidFill>
                  <a:latin typeface="Arial"/>
                  <a:ea typeface="Arial"/>
                  <a:cs typeface="Arial"/>
                  <a:sym typeface="Arial"/>
                </a:rPr>
                <a:t>02</a:t>
              </a:r>
              <a:endParaRPr/>
            </a:p>
          </p:txBody>
        </p:sp>
      </p:grpSp>
      <p:grpSp>
        <p:nvGrpSpPr>
          <p:cNvPr id="105" name="Google Shape;105;p2"/>
          <p:cNvGrpSpPr/>
          <p:nvPr/>
        </p:nvGrpSpPr>
        <p:grpSpPr>
          <a:xfrm>
            <a:off x="1028700" y="6778321"/>
            <a:ext cx="1010106" cy="1467123"/>
            <a:chOff x="0" y="-57150"/>
            <a:chExt cx="205815" cy="298935"/>
          </a:xfrm>
        </p:grpSpPr>
        <p:sp>
          <p:nvSpPr>
            <p:cNvPr id="106" name="Google Shape;106;p2"/>
            <p:cNvSpPr/>
            <p:nvPr/>
          </p:nvSpPr>
          <p:spPr>
            <a:xfrm>
              <a:off x="0" y="0"/>
              <a:ext cx="205815" cy="241785"/>
            </a:xfrm>
            <a:custGeom>
              <a:rect b="b" l="l" r="r" t="t"/>
              <a:pathLst>
                <a:path extrusionOk="0" h="241785" w="205815">
                  <a:moveTo>
                    <a:pt x="0" y="0"/>
                  </a:moveTo>
                  <a:lnTo>
                    <a:pt x="205815" y="0"/>
                  </a:lnTo>
                  <a:lnTo>
                    <a:pt x="205815" y="241785"/>
                  </a:lnTo>
                  <a:lnTo>
                    <a:pt x="0" y="241785"/>
                  </a:lnTo>
                  <a:close/>
                </a:path>
              </a:pathLst>
            </a:custGeom>
            <a:gradFill>
              <a:gsLst>
                <a:gs pos="0">
                  <a:srgbClr val="10A5FF"/>
                </a:gs>
                <a:gs pos="100000">
                  <a:srgbClr val="041E4E"/>
                </a:gs>
              </a:gsLst>
              <a:lin ang="5400000" scaled="0"/>
            </a:gradFill>
            <a:ln>
              <a:noFill/>
            </a:ln>
          </p:spPr>
        </p:sp>
        <p:sp>
          <p:nvSpPr>
            <p:cNvPr id="107" name="Google Shape;107;p2"/>
            <p:cNvSpPr txBox="1"/>
            <p:nvPr/>
          </p:nvSpPr>
          <p:spPr>
            <a:xfrm>
              <a:off x="0" y="-57150"/>
              <a:ext cx="205815" cy="298935"/>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2000" u="none" cap="none" strike="noStrike">
                  <a:solidFill>
                    <a:srgbClr val="FFFFFF"/>
                  </a:solidFill>
                  <a:latin typeface="Arial"/>
                  <a:ea typeface="Arial"/>
                  <a:cs typeface="Arial"/>
                  <a:sym typeface="Arial"/>
                </a:rPr>
                <a:t>03</a:t>
              </a:r>
              <a:endParaRPr/>
            </a:p>
          </p:txBody>
        </p:sp>
      </p:grpSp>
      <p:sp>
        <p:nvSpPr>
          <p:cNvPr id="108" name="Google Shape;108;p2"/>
          <p:cNvSpPr txBox="1"/>
          <p:nvPr/>
        </p:nvSpPr>
        <p:spPr>
          <a:xfrm>
            <a:off x="1028700" y="1759828"/>
            <a:ext cx="8074917" cy="2154170"/>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b="0" i="0" lang="en-US" sz="6381" u="none" cap="none" strike="noStrike">
                <a:solidFill>
                  <a:srgbClr val="FFFFFF"/>
                </a:solidFill>
                <a:latin typeface="Arial"/>
                <a:ea typeface="Arial"/>
                <a:cs typeface="Arial"/>
                <a:sym typeface="Arial"/>
              </a:rPr>
              <a:t>El Problema: Relevancia Laboral</a:t>
            </a:r>
            <a:endParaRPr/>
          </a:p>
        </p:txBody>
      </p:sp>
      <p:sp>
        <p:nvSpPr>
          <p:cNvPr id="109" name="Google Shape;109;p2"/>
          <p:cNvSpPr txBox="1"/>
          <p:nvPr/>
        </p:nvSpPr>
        <p:spPr>
          <a:xfrm>
            <a:off x="2285454" y="4164545"/>
            <a:ext cx="8053372" cy="1193269"/>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Planes genéricos que no consideran la evolución del usuario ni sus cambios físicos, limitando resultados a largo plazo.</a:t>
            </a:r>
            <a:endParaRPr/>
          </a:p>
        </p:txBody>
      </p:sp>
      <p:sp>
        <p:nvSpPr>
          <p:cNvPr id="110" name="Google Shape;110;p2"/>
          <p:cNvSpPr txBox="1"/>
          <p:nvPr/>
        </p:nvSpPr>
        <p:spPr>
          <a:xfrm>
            <a:off x="2285454" y="5608361"/>
            <a:ext cx="8053372" cy="1193269"/>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Altos costos de coaching personal que hacen inaccesible la guía profesional para la mayoría de las personas.</a:t>
            </a:r>
            <a:endParaRPr/>
          </a:p>
        </p:txBody>
      </p:sp>
      <p:sp>
        <p:nvSpPr>
          <p:cNvPr id="111" name="Google Shape;111;p2"/>
          <p:cNvSpPr txBox="1"/>
          <p:nvPr/>
        </p:nvSpPr>
        <p:spPr>
          <a:xfrm>
            <a:off x="2285454" y="7052176"/>
            <a:ext cx="8053372" cy="1193269"/>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Apps estáticas sin feedback adaptativo: no aprenden del progreso real ni ajustan recomendaciones dinámicamente.</a:t>
            </a:r>
            <a:endParaRPr/>
          </a:p>
        </p:txBody>
      </p:sp>
      <p:sp>
        <p:nvSpPr>
          <p:cNvPr id="112" name="Google Shape;112;p2"/>
          <p:cNvSpPr/>
          <p:nvPr/>
        </p:nvSpPr>
        <p:spPr>
          <a:xfrm>
            <a:off x="11769489" y="0"/>
            <a:ext cx="6518511" cy="10287000"/>
          </a:xfrm>
          <a:custGeom>
            <a:rect b="b" l="l" r="r" t="t"/>
            <a:pathLst>
              <a:path extrusionOk="0" h="3488176" w="2210335">
                <a:moveTo>
                  <a:pt x="0" y="0"/>
                </a:moveTo>
                <a:lnTo>
                  <a:pt x="2210335" y="0"/>
                </a:lnTo>
                <a:lnTo>
                  <a:pt x="2210335" y="3488176"/>
                </a:lnTo>
                <a:lnTo>
                  <a:pt x="0" y="3488176"/>
                </a:lnTo>
                <a:close/>
              </a:path>
            </a:pathLst>
          </a:custGeom>
          <a:blipFill rotWithShape="1">
            <a:blip r:embed="rId4">
              <a:alphaModFix/>
            </a:blip>
            <a:stretch>
              <a:fillRect b="0" l="-3162" r="-3162"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sp>
      <p:sp>
        <p:nvSpPr>
          <p:cNvPr id="118" name="Google Shape;118;p3"/>
          <p:cNvSpPr txBox="1"/>
          <p:nvPr/>
        </p:nvSpPr>
        <p:spPr>
          <a:xfrm>
            <a:off x="1028700" y="4644062"/>
            <a:ext cx="7354667" cy="2586531"/>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418" u="none" cap="none" strike="noStrike">
                <a:solidFill>
                  <a:srgbClr val="FFFFFF"/>
                </a:solidFill>
                <a:latin typeface="Arial"/>
                <a:ea typeface="Arial"/>
                <a:cs typeface="Arial"/>
                <a:sym typeface="Arial"/>
              </a:rPr>
              <a:t>App móvil impulsada por IA que genera planes de entrenamiento y nutrición que aprenden y se ajustan según el progreso real del usuario. FitAI combina inteligencia artificial avanzada con coaching personalizado para ofrecer una experiencia única y adaptativa.</a:t>
            </a:r>
            <a:endParaRPr/>
          </a:p>
        </p:txBody>
      </p:sp>
      <p:sp>
        <p:nvSpPr>
          <p:cNvPr id="119" name="Google Shape;119;p3"/>
          <p:cNvSpPr/>
          <p:nvPr/>
        </p:nvSpPr>
        <p:spPr>
          <a:xfrm>
            <a:off x="9082072" y="1028700"/>
            <a:ext cx="8727066" cy="6947584"/>
          </a:xfrm>
          <a:custGeom>
            <a:rect b="b" l="l" r="r" t="t"/>
            <a:pathLst>
              <a:path extrusionOk="0" h="2355827" w="2959224">
                <a:moveTo>
                  <a:pt x="12420" y="0"/>
                </a:moveTo>
                <a:lnTo>
                  <a:pt x="2946805" y="0"/>
                </a:lnTo>
                <a:cubicBezTo>
                  <a:pt x="2953664" y="0"/>
                  <a:pt x="2959224" y="5560"/>
                  <a:pt x="2959224" y="12420"/>
                </a:cubicBezTo>
                <a:lnTo>
                  <a:pt x="2959224" y="2343408"/>
                </a:lnTo>
                <a:cubicBezTo>
                  <a:pt x="2959224" y="2350267"/>
                  <a:pt x="2953664" y="2355827"/>
                  <a:pt x="2946805" y="2355827"/>
                </a:cubicBezTo>
                <a:lnTo>
                  <a:pt x="12420" y="2355827"/>
                </a:lnTo>
                <a:cubicBezTo>
                  <a:pt x="5560" y="2355827"/>
                  <a:pt x="0" y="2350267"/>
                  <a:pt x="0" y="2343408"/>
                </a:cubicBezTo>
                <a:lnTo>
                  <a:pt x="0" y="12420"/>
                </a:lnTo>
                <a:cubicBezTo>
                  <a:pt x="0" y="5560"/>
                  <a:pt x="5560" y="0"/>
                  <a:pt x="12420" y="0"/>
                </a:cubicBezTo>
                <a:close/>
              </a:path>
            </a:pathLst>
          </a:custGeom>
          <a:blipFill rotWithShape="1">
            <a:blip r:embed="rId4">
              <a:alphaModFix/>
            </a:blip>
            <a:stretch>
              <a:fillRect b="-794" l="0" r="0" t="-794"/>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 name="Google Shape;120;p3"/>
          <p:cNvGrpSpPr/>
          <p:nvPr/>
        </p:nvGrpSpPr>
        <p:grpSpPr>
          <a:xfrm>
            <a:off x="9719481" y="6834899"/>
            <a:ext cx="6727507" cy="2451032"/>
            <a:chOff x="0" y="-76200"/>
            <a:chExt cx="1637439" cy="596568"/>
          </a:xfrm>
        </p:grpSpPr>
        <p:sp>
          <p:nvSpPr>
            <p:cNvPr id="121" name="Google Shape;121;p3"/>
            <p:cNvSpPr/>
            <p:nvPr/>
          </p:nvSpPr>
          <p:spPr>
            <a:xfrm>
              <a:off x="0" y="0"/>
              <a:ext cx="1637439" cy="520368"/>
            </a:xfrm>
            <a:custGeom>
              <a:rect b="b" l="l" r="r" t="t"/>
              <a:pathLst>
                <a:path extrusionOk="0" h="520368" w="1637439">
                  <a:moveTo>
                    <a:pt x="16111" y="0"/>
                  </a:moveTo>
                  <a:lnTo>
                    <a:pt x="1621328" y="0"/>
                  </a:lnTo>
                  <a:cubicBezTo>
                    <a:pt x="1630226" y="0"/>
                    <a:pt x="1637439" y="7213"/>
                    <a:pt x="1637439" y="16111"/>
                  </a:cubicBezTo>
                  <a:lnTo>
                    <a:pt x="1637439" y="504257"/>
                  </a:lnTo>
                  <a:cubicBezTo>
                    <a:pt x="1637439" y="513155"/>
                    <a:pt x="1630226" y="520368"/>
                    <a:pt x="1621328" y="520368"/>
                  </a:cubicBezTo>
                  <a:lnTo>
                    <a:pt x="16111" y="520368"/>
                  </a:lnTo>
                  <a:cubicBezTo>
                    <a:pt x="7213" y="520368"/>
                    <a:pt x="0" y="513155"/>
                    <a:pt x="0" y="504257"/>
                  </a:cubicBezTo>
                  <a:lnTo>
                    <a:pt x="0" y="16111"/>
                  </a:lnTo>
                  <a:cubicBezTo>
                    <a:pt x="0" y="7213"/>
                    <a:pt x="7213" y="0"/>
                    <a:pt x="16111" y="0"/>
                  </a:cubicBezTo>
                  <a:close/>
                </a:path>
              </a:pathLst>
            </a:custGeom>
            <a:gradFill>
              <a:gsLst>
                <a:gs pos="0">
                  <a:srgbClr val="03295A">
                    <a:alpha val="61960"/>
                  </a:srgbClr>
                </a:gs>
                <a:gs pos="100000">
                  <a:srgbClr val="041468">
                    <a:alpha val="74509"/>
                  </a:srgbClr>
                </a:gs>
              </a:gsLst>
              <a:lin ang="0" scaled="0"/>
            </a:gradFill>
            <a:ln cap="sq" cmpd="sng" w="38100">
              <a:solidFill>
                <a:srgbClr val="10A5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txBox="1"/>
            <p:nvPr/>
          </p:nvSpPr>
          <p:spPr>
            <a:xfrm>
              <a:off x="0" y="-76200"/>
              <a:ext cx="1637439" cy="596568"/>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3" name="Google Shape;123;p3"/>
          <p:cNvSpPr/>
          <p:nvPr/>
        </p:nvSpPr>
        <p:spPr>
          <a:xfrm>
            <a:off x="9895715" y="7478031"/>
            <a:ext cx="1631773" cy="1490936"/>
          </a:xfrm>
          <a:custGeom>
            <a:rect b="b" l="l" r="r" t="t"/>
            <a:pathLst>
              <a:path extrusionOk="0" h="1490936" w="1631773">
                <a:moveTo>
                  <a:pt x="0" y="0"/>
                </a:moveTo>
                <a:lnTo>
                  <a:pt x="1631773" y="0"/>
                </a:lnTo>
                <a:lnTo>
                  <a:pt x="1631773" y="1490936"/>
                </a:lnTo>
                <a:lnTo>
                  <a:pt x="0" y="1490936"/>
                </a:lnTo>
                <a:lnTo>
                  <a:pt x="0" y="0"/>
                </a:lnTo>
                <a:close/>
              </a:path>
            </a:pathLst>
          </a:custGeom>
          <a:blipFill rotWithShape="1">
            <a:blip r:embed="rId5">
              <a:alphaModFix/>
            </a:blip>
            <a:stretch>
              <a:fillRect b="0" l="0" r="0" t="0"/>
            </a:stretch>
          </a:blipFill>
          <a:ln>
            <a:noFill/>
          </a:ln>
        </p:spPr>
      </p:sp>
      <p:sp>
        <p:nvSpPr>
          <p:cNvPr id="124" name="Google Shape;124;p3"/>
          <p:cNvSpPr txBox="1"/>
          <p:nvPr/>
        </p:nvSpPr>
        <p:spPr>
          <a:xfrm>
            <a:off x="1028700" y="2294408"/>
            <a:ext cx="8053372" cy="1118778"/>
          </a:xfrm>
          <a:prstGeom prst="rect">
            <a:avLst/>
          </a:prstGeom>
          <a:noFill/>
          <a:ln>
            <a:noFill/>
          </a:ln>
        </p:spPr>
        <p:txBody>
          <a:bodyPr anchorCtr="0" anchor="t" bIns="0" lIns="0" spcFirstLastPara="1" rIns="0" wrap="square" tIns="0">
            <a:spAutoFit/>
          </a:bodyPr>
          <a:lstStyle/>
          <a:p>
            <a:pPr indent="0" lvl="0" marL="0" marR="0" rtl="0" algn="l">
              <a:lnSpc>
                <a:spcPct val="129998"/>
              </a:lnSpc>
              <a:spcBef>
                <a:spcPts val="0"/>
              </a:spcBef>
              <a:spcAft>
                <a:spcPts val="0"/>
              </a:spcAft>
              <a:buNone/>
            </a:pPr>
            <a:r>
              <a:rPr b="0" i="0" lang="en-US" sz="6407" u="none" cap="none" strike="noStrike">
                <a:solidFill>
                  <a:srgbClr val="FFFFFF"/>
                </a:solidFill>
                <a:latin typeface="Arial"/>
                <a:ea typeface="Arial"/>
                <a:cs typeface="Arial"/>
                <a:sym typeface="Arial"/>
              </a:rPr>
              <a:t>La Solución: FitAI</a:t>
            </a:r>
            <a:endParaRPr/>
          </a:p>
        </p:txBody>
      </p:sp>
      <p:sp>
        <p:nvSpPr>
          <p:cNvPr id="125" name="Google Shape;125;p3"/>
          <p:cNvSpPr txBox="1"/>
          <p:nvPr/>
        </p:nvSpPr>
        <p:spPr>
          <a:xfrm>
            <a:off x="11837703" y="7390708"/>
            <a:ext cx="4120658" cy="1549515"/>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Innovación tecnológica al servicio de tu bienestar: planes dinámicos que evolucionan contigo, ajustándose a tus metas y resultados.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18519"/>
            </a:stretch>
          </a:blipFill>
          <a:ln>
            <a:noFill/>
          </a:ln>
        </p:spPr>
      </p:sp>
      <p:grpSp>
        <p:nvGrpSpPr>
          <p:cNvPr id="131" name="Google Shape;131;p4"/>
          <p:cNvGrpSpPr/>
          <p:nvPr/>
        </p:nvGrpSpPr>
        <p:grpSpPr>
          <a:xfrm>
            <a:off x="1229588" y="3111803"/>
            <a:ext cx="571981" cy="571981"/>
            <a:chOff x="0" y="0"/>
            <a:chExt cx="812800" cy="812800"/>
          </a:xfrm>
        </p:grpSpPr>
        <p:sp>
          <p:nvSpPr>
            <p:cNvPr id="132" name="Google Shape;132;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2000" u="none" cap="none" strike="noStrike">
                  <a:solidFill>
                    <a:srgbClr val="FFFFFF"/>
                  </a:solidFill>
                  <a:latin typeface="Arial"/>
                  <a:ea typeface="Arial"/>
                  <a:cs typeface="Arial"/>
                  <a:sym typeface="Arial"/>
                </a:rPr>
                <a:t>OG</a:t>
              </a:r>
              <a:endParaRPr/>
            </a:p>
          </p:txBody>
        </p:sp>
      </p:grpSp>
      <p:grpSp>
        <p:nvGrpSpPr>
          <p:cNvPr id="134" name="Google Shape;134;p4"/>
          <p:cNvGrpSpPr/>
          <p:nvPr/>
        </p:nvGrpSpPr>
        <p:grpSpPr>
          <a:xfrm>
            <a:off x="1229588" y="4628206"/>
            <a:ext cx="571981" cy="571981"/>
            <a:chOff x="0" y="0"/>
            <a:chExt cx="812800" cy="812800"/>
          </a:xfrm>
        </p:grpSpPr>
        <p:sp>
          <p:nvSpPr>
            <p:cNvPr id="135" name="Google Shape;13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2000" u="none" cap="none" strike="noStrike">
                  <a:solidFill>
                    <a:srgbClr val="FFFFFF"/>
                  </a:solidFill>
                  <a:latin typeface="Arial"/>
                  <a:ea typeface="Arial"/>
                  <a:cs typeface="Arial"/>
                  <a:sym typeface="Arial"/>
                </a:rPr>
                <a:t>01</a:t>
              </a:r>
              <a:endParaRPr/>
            </a:p>
          </p:txBody>
        </p:sp>
      </p:grpSp>
      <p:grpSp>
        <p:nvGrpSpPr>
          <p:cNvPr id="137" name="Google Shape;137;p4"/>
          <p:cNvGrpSpPr/>
          <p:nvPr/>
        </p:nvGrpSpPr>
        <p:grpSpPr>
          <a:xfrm>
            <a:off x="1229588" y="6197468"/>
            <a:ext cx="571981" cy="571981"/>
            <a:chOff x="0" y="0"/>
            <a:chExt cx="812800" cy="812800"/>
          </a:xfrm>
        </p:grpSpPr>
        <p:sp>
          <p:nvSpPr>
            <p:cNvPr id="138" name="Google Shape;138;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2000" u="none" cap="none" strike="noStrike">
                  <a:solidFill>
                    <a:srgbClr val="FFFFFF"/>
                  </a:solidFill>
                  <a:latin typeface="Arial"/>
                  <a:ea typeface="Arial"/>
                  <a:cs typeface="Arial"/>
                  <a:sym typeface="Arial"/>
                </a:rPr>
                <a:t>02</a:t>
              </a:r>
              <a:endParaRPr/>
            </a:p>
          </p:txBody>
        </p:sp>
      </p:grpSp>
      <p:grpSp>
        <p:nvGrpSpPr>
          <p:cNvPr id="140" name="Google Shape;140;p4"/>
          <p:cNvGrpSpPr/>
          <p:nvPr/>
        </p:nvGrpSpPr>
        <p:grpSpPr>
          <a:xfrm>
            <a:off x="1229588" y="7814354"/>
            <a:ext cx="571981" cy="571981"/>
            <a:chOff x="0" y="0"/>
            <a:chExt cx="812800" cy="812800"/>
          </a:xfrm>
        </p:grpSpPr>
        <p:sp>
          <p:nvSpPr>
            <p:cNvPr id="141" name="Google Shape;14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2000" u="none" cap="none" strike="noStrike">
                  <a:solidFill>
                    <a:srgbClr val="FFFFFF"/>
                  </a:solidFill>
                  <a:latin typeface="Arial"/>
                  <a:ea typeface="Arial"/>
                  <a:cs typeface="Arial"/>
                  <a:sym typeface="Arial"/>
                </a:rPr>
                <a:t>03</a:t>
              </a:r>
              <a:endParaRPr/>
            </a:p>
          </p:txBody>
        </p:sp>
      </p:grpSp>
      <p:sp>
        <p:nvSpPr>
          <p:cNvPr id="143" name="Google Shape;143;p4"/>
          <p:cNvSpPr/>
          <p:nvPr/>
        </p:nvSpPr>
        <p:spPr>
          <a:xfrm>
            <a:off x="11634709" y="1091941"/>
            <a:ext cx="6150143" cy="10336374"/>
          </a:xfrm>
          <a:custGeom>
            <a:rect b="b" l="l" r="r" t="t"/>
            <a:pathLst>
              <a:path extrusionOk="0" h="10336374" w="6150143">
                <a:moveTo>
                  <a:pt x="0" y="0"/>
                </a:moveTo>
                <a:lnTo>
                  <a:pt x="6150143" y="0"/>
                </a:lnTo>
                <a:lnTo>
                  <a:pt x="6150143" y="10336374"/>
                </a:lnTo>
                <a:lnTo>
                  <a:pt x="0" y="10336374"/>
                </a:lnTo>
                <a:lnTo>
                  <a:pt x="0" y="0"/>
                </a:lnTo>
                <a:close/>
              </a:path>
            </a:pathLst>
          </a:custGeom>
          <a:blipFill rotWithShape="1">
            <a:blip r:embed="rId4">
              <a:alphaModFix/>
            </a:blip>
            <a:stretch>
              <a:fillRect b="0" l="0" r="0" t="0"/>
            </a:stretch>
          </a:blipFill>
          <a:ln>
            <a:noFill/>
          </a:ln>
        </p:spPr>
      </p:sp>
      <p:sp>
        <p:nvSpPr>
          <p:cNvPr id="144" name="Google Shape;144;p4"/>
          <p:cNvSpPr txBox="1"/>
          <p:nvPr/>
        </p:nvSpPr>
        <p:spPr>
          <a:xfrm>
            <a:off x="1229588" y="1476130"/>
            <a:ext cx="9536271" cy="1243641"/>
          </a:xfrm>
          <a:prstGeom prst="rect">
            <a:avLst/>
          </a:prstGeom>
          <a:noFill/>
          <a:ln>
            <a:noFill/>
          </a:ln>
        </p:spPr>
        <p:txBody>
          <a:bodyPr anchorCtr="0" anchor="t" bIns="0" lIns="0" spcFirstLastPara="1" rIns="0" wrap="square" tIns="0">
            <a:spAutoFit/>
          </a:bodyPr>
          <a:lstStyle/>
          <a:p>
            <a:pPr indent="0" lvl="0" marL="0" marR="0" rtl="0" algn="l">
              <a:lnSpc>
                <a:spcPct val="130005"/>
              </a:lnSpc>
              <a:spcBef>
                <a:spcPts val="0"/>
              </a:spcBef>
              <a:spcAft>
                <a:spcPts val="0"/>
              </a:spcAft>
              <a:buNone/>
            </a:pPr>
            <a:r>
              <a:rPr b="0" i="0" lang="en-US" sz="7242" u="none" cap="none" strike="noStrike">
                <a:solidFill>
                  <a:srgbClr val="FFFFFF"/>
                </a:solidFill>
                <a:latin typeface="Arial"/>
                <a:ea typeface="Arial"/>
                <a:cs typeface="Arial"/>
                <a:sym typeface="Arial"/>
              </a:rPr>
              <a:t>Objetivos del Proyecto</a:t>
            </a:r>
            <a:endParaRPr/>
          </a:p>
        </p:txBody>
      </p:sp>
      <p:sp>
        <p:nvSpPr>
          <p:cNvPr id="145" name="Google Shape;145;p4"/>
          <p:cNvSpPr txBox="1"/>
          <p:nvPr/>
        </p:nvSpPr>
        <p:spPr>
          <a:xfrm>
            <a:off x="2032183" y="3087746"/>
            <a:ext cx="8053372" cy="802118"/>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Desarrollar una solución móvil con IA para la gestión adaptativa de fitness y nutrición personalizada.</a:t>
            </a:r>
            <a:endParaRPr/>
          </a:p>
        </p:txBody>
      </p:sp>
      <p:sp>
        <p:nvSpPr>
          <p:cNvPr id="146" name="Google Shape;146;p4"/>
          <p:cNvSpPr txBox="1"/>
          <p:nvPr/>
        </p:nvSpPr>
        <p:spPr>
          <a:xfrm>
            <a:off x="2032183" y="4604149"/>
            <a:ext cx="8053372" cy="802118"/>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Democratizar el acceso a coaching personalizado de alta calidad para todos los usuarios.</a:t>
            </a:r>
            <a:endParaRPr/>
          </a:p>
        </p:txBody>
      </p:sp>
      <p:sp>
        <p:nvSpPr>
          <p:cNvPr id="147" name="Google Shape;147;p4"/>
          <p:cNvSpPr txBox="1"/>
          <p:nvPr/>
        </p:nvSpPr>
        <p:spPr>
          <a:xfrm>
            <a:off x="2032183" y="6173411"/>
            <a:ext cx="8053372" cy="802118"/>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Optimizar los resultados del usuario mediante ajustes dinámicos semanales basados en progreso real.</a:t>
            </a:r>
            <a:endParaRPr/>
          </a:p>
        </p:txBody>
      </p:sp>
      <p:sp>
        <p:nvSpPr>
          <p:cNvPr id="148" name="Google Shape;148;p4"/>
          <p:cNvSpPr txBox="1"/>
          <p:nvPr/>
        </p:nvSpPr>
        <p:spPr>
          <a:xfrm>
            <a:off x="2032183" y="7790297"/>
            <a:ext cx="8053372" cy="802118"/>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219" u="none" cap="none" strike="noStrike">
                <a:solidFill>
                  <a:srgbClr val="FFFFFF"/>
                </a:solidFill>
                <a:latin typeface="Arial"/>
                <a:ea typeface="Arial"/>
                <a:cs typeface="Arial"/>
                <a:sym typeface="Arial"/>
              </a:rPr>
              <a:t>Facilitar la adherencia al plan mediante un Coach Virtual con IA disponible 24/7.</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sp>
        <p:nvSpPr>
          <p:cNvPr id="154" name="Google Shape;154;p5"/>
          <p:cNvSpPr txBox="1"/>
          <p:nvPr/>
        </p:nvSpPr>
        <p:spPr>
          <a:xfrm>
            <a:off x="4375865" y="1917083"/>
            <a:ext cx="9536271" cy="984262"/>
          </a:xfrm>
          <a:prstGeom prst="rect">
            <a:avLst/>
          </a:prstGeom>
          <a:noFill/>
          <a:ln>
            <a:noFill/>
          </a:ln>
        </p:spPr>
        <p:txBody>
          <a:bodyPr anchorCtr="0" anchor="t" bIns="0" lIns="0" spcFirstLastPara="1" rIns="0" wrap="square" tIns="0">
            <a:spAutoFit/>
          </a:bodyPr>
          <a:lstStyle/>
          <a:p>
            <a:pPr indent="0" lvl="0" marL="0" marR="0" rtl="0" algn="ctr">
              <a:lnSpc>
                <a:spcPct val="129987"/>
              </a:lnSpc>
              <a:spcBef>
                <a:spcPts val="0"/>
              </a:spcBef>
              <a:spcAft>
                <a:spcPts val="0"/>
              </a:spcAft>
              <a:buNone/>
            </a:pPr>
            <a:r>
              <a:rPr b="0" i="0" lang="en-US" sz="5749" u="none" cap="none" strike="noStrike">
                <a:solidFill>
                  <a:srgbClr val="FFFFFF"/>
                </a:solidFill>
                <a:latin typeface="Arial"/>
                <a:ea typeface="Arial"/>
                <a:cs typeface="Arial"/>
                <a:sym typeface="Arial"/>
              </a:rPr>
              <a:t>Alcances y Limitaciones</a:t>
            </a:r>
            <a:endParaRPr/>
          </a:p>
        </p:txBody>
      </p:sp>
      <p:sp>
        <p:nvSpPr>
          <p:cNvPr id="155" name="Google Shape;155;p5"/>
          <p:cNvSpPr/>
          <p:nvPr/>
        </p:nvSpPr>
        <p:spPr>
          <a:xfrm>
            <a:off x="12354410" y="3670993"/>
            <a:ext cx="4904890" cy="3015359"/>
          </a:xfrm>
          <a:custGeom>
            <a:rect b="b" l="l" r="r" t="t"/>
            <a:pathLst>
              <a:path extrusionOk="0" h="1022465" w="1663179">
                <a:moveTo>
                  <a:pt x="22098" y="0"/>
                </a:moveTo>
                <a:lnTo>
                  <a:pt x="1641081" y="0"/>
                </a:lnTo>
                <a:cubicBezTo>
                  <a:pt x="1646942" y="0"/>
                  <a:pt x="1652562" y="2328"/>
                  <a:pt x="1656706" y="6472"/>
                </a:cubicBezTo>
                <a:cubicBezTo>
                  <a:pt x="1660851" y="10616"/>
                  <a:pt x="1663179" y="16237"/>
                  <a:pt x="1663179" y="22098"/>
                </a:cubicBezTo>
                <a:lnTo>
                  <a:pt x="1663179" y="1000368"/>
                </a:lnTo>
                <a:cubicBezTo>
                  <a:pt x="1663179" y="1012572"/>
                  <a:pt x="1653285" y="1022465"/>
                  <a:pt x="1641081" y="1022465"/>
                </a:cubicBezTo>
                <a:lnTo>
                  <a:pt x="22098" y="1022465"/>
                </a:lnTo>
                <a:cubicBezTo>
                  <a:pt x="9893" y="1022465"/>
                  <a:pt x="0" y="1012572"/>
                  <a:pt x="0" y="1000368"/>
                </a:cubicBezTo>
                <a:lnTo>
                  <a:pt x="0" y="22098"/>
                </a:lnTo>
                <a:cubicBezTo>
                  <a:pt x="0" y="9893"/>
                  <a:pt x="9893" y="0"/>
                  <a:pt x="22098" y="0"/>
                </a:cubicBezTo>
                <a:close/>
              </a:path>
            </a:pathLst>
          </a:custGeom>
          <a:blipFill rotWithShape="1">
            <a:blip r:embed="rId4">
              <a:alphaModFix/>
            </a:blip>
            <a:stretch>
              <a:fillRect b="-4797" l="0" r="0" t="-479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6711949" y="3670993"/>
            <a:ext cx="4904890" cy="3015359"/>
          </a:xfrm>
          <a:custGeom>
            <a:rect b="b" l="l" r="r" t="t"/>
            <a:pathLst>
              <a:path extrusionOk="0" h="1022465" w="1663179">
                <a:moveTo>
                  <a:pt x="22098" y="0"/>
                </a:moveTo>
                <a:lnTo>
                  <a:pt x="1641081" y="0"/>
                </a:lnTo>
                <a:cubicBezTo>
                  <a:pt x="1646942" y="0"/>
                  <a:pt x="1652562" y="2328"/>
                  <a:pt x="1656706" y="6472"/>
                </a:cubicBezTo>
                <a:cubicBezTo>
                  <a:pt x="1660851" y="10616"/>
                  <a:pt x="1663179" y="16237"/>
                  <a:pt x="1663179" y="22098"/>
                </a:cubicBezTo>
                <a:lnTo>
                  <a:pt x="1663179" y="1000368"/>
                </a:lnTo>
                <a:cubicBezTo>
                  <a:pt x="1663179" y="1012572"/>
                  <a:pt x="1653285" y="1022465"/>
                  <a:pt x="1641081" y="1022465"/>
                </a:cubicBezTo>
                <a:lnTo>
                  <a:pt x="22098" y="1022465"/>
                </a:lnTo>
                <a:cubicBezTo>
                  <a:pt x="9893" y="1022465"/>
                  <a:pt x="0" y="1012572"/>
                  <a:pt x="0" y="1000368"/>
                </a:cubicBezTo>
                <a:lnTo>
                  <a:pt x="0" y="22098"/>
                </a:lnTo>
                <a:cubicBezTo>
                  <a:pt x="0" y="9893"/>
                  <a:pt x="9893" y="0"/>
                  <a:pt x="22098" y="0"/>
                </a:cubicBezTo>
                <a:close/>
              </a:path>
            </a:pathLst>
          </a:custGeom>
          <a:blipFill rotWithShape="1">
            <a:blip r:embed="rId5">
              <a:alphaModFix/>
            </a:blip>
            <a:stretch>
              <a:fillRect b="-4797" l="0" r="0" t="-479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1064963" y="3670993"/>
            <a:ext cx="4904890" cy="3015359"/>
          </a:xfrm>
          <a:custGeom>
            <a:rect b="b" l="l" r="r" t="t"/>
            <a:pathLst>
              <a:path extrusionOk="0" h="1022465" w="1663179">
                <a:moveTo>
                  <a:pt x="22098" y="0"/>
                </a:moveTo>
                <a:lnTo>
                  <a:pt x="1641081" y="0"/>
                </a:lnTo>
                <a:cubicBezTo>
                  <a:pt x="1646942" y="0"/>
                  <a:pt x="1652562" y="2328"/>
                  <a:pt x="1656706" y="6472"/>
                </a:cubicBezTo>
                <a:cubicBezTo>
                  <a:pt x="1660851" y="10616"/>
                  <a:pt x="1663179" y="16237"/>
                  <a:pt x="1663179" y="22098"/>
                </a:cubicBezTo>
                <a:lnTo>
                  <a:pt x="1663179" y="1000368"/>
                </a:lnTo>
                <a:cubicBezTo>
                  <a:pt x="1663179" y="1012572"/>
                  <a:pt x="1653285" y="1022465"/>
                  <a:pt x="1641081" y="1022465"/>
                </a:cubicBezTo>
                <a:lnTo>
                  <a:pt x="22098" y="1022465"/>
                </a:lnTo>
                <a:cubicBezTo>
                  <a:pt x="9893" y="1022465"/>
                  <a:pt x="0" y="1012572"/>
                  <a:pt x="0" y="1000368"/>
                </a:cubicBezTo>
                <a:lnTo>
                  <a:pt x="0" y="22098"/>
                </a:lnTo>
                <a:cubicBezTo>
                  <a:pt x="0" y="9893"/>
                  <a:pt x="9893" y="0"/>
                  <a:pt x="22098" y="0"/>
                </a:cubicBezTo>
                <a:close/>
              </a:path>
            </a:pathLst>
          </a:custGeom>
          <a:blipFill rotWithShape="1">
            <a:blip r:embed="rId6">
              <a:alphaModFix/>
            </a:blip>
            <a:stretch>
              <a:fillRect b="-4797" l="0" r="0" t="-479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 name="Google Shape;158;p5"/>
          <p:cNvGrpSpPr/>
          <p:nvPr/>
        </p:nvGrpSpPr>
        <p:grpSpPr>
          <a:xfrm>
            <a:off x="12595987" y="6073392"/>
            <a:ext cx="4421737" cy="2451032"/>
            <a:chOff x="0" y="-76200"/>
            <a:chExt cx="1076227" cy="596568"/>
          </a:xfrm>
        </p:grpSpPr>
        <p:sp>
          <p:nvSpPr>
            <p:cNvPr id="159" name="Google Shape;159;p5"/>
            <p:cNvSpPr/>
            <p:nvPr/>
          </p:nvSpPr>
          <p:spPr>
            <a:xfrm>
              <a:off x="0" y="0"/>
              <a:ext cx="1076227" cy="520368"/>
            </a:xfrm>
            <a:custGeom>
              <a:rect b="b" l="l" r="r" t="t"/>
              <a:pathLst>
                <a:path extrusionOk="0" h="520368" w="1076227">
                  <a:moveTo>
                    <a:pt x="24512" y="0"/>
                  </a:moveTo>
                  <a:lnTo>
                    <a:pt x="1051715" y="0"/>
                  </a:lnTo>
                  <a:cubicBezTo>
                    <a:pt x="1065252" y="0"/>
                    <a:pt x="1076227" y="10975"/>
                    <a:pt x="1076227" y="24512"/>
                  </a:cubicBezTo>
                  <a:lnTo>
                    <a:pt x="1076227" y="495856"/>
                  </a:lnTo>
                  <a:cubicBezTo>
                    <a:pt x="1076227" y="509393"/>
                    <a:pt x="1065252" y="520368"/>
                    <a:pt x="1051715" y="520368"/>
                  </a:cubicBezTo>
                  <a:lnTo>
                    <a:pt x="24512" y="520368"/>
                  </a:lnTo>
                  <a:cubicBezTo>
                    <a:pt x="10975" y="520368"/>
                    <a:pt x="0" y="509393"/>
                    <a:pt x="0" y="495856"/>
                  </a:cubicBezTo>
                  <a:lnTo>
                    <a:pt x="0" y="24512"/>
                  </a:lnTo>
                  <a:cubicBezTo>
                    <a:pt x="0" y="10975"/>
                    <a:pt x="10975" y="0"/>
                    <a:pt x="24512" y="0"/>
                  </a:cubicBezTo>
                  <a:close/>
                </a:path>
              </a:pathLst>
            </a:custGeom>
            <a:gradFill>
              <a:gsLst>
                <a:gs pos="0">
                  <a:srgbClr val="03295A">
                    <a:alpha val="61960"/>
                  </a:srgbClr>
                </a:gs>
                <a:gs pos="100000">
                  <a:srgbClr val="041468">
                    <a:alpha val="74509"/>
                  </a:srgbClr>
                </a:gs>
              </a:gsLst>
              <a:lin ang="0" scaled="0"/>
            </a:gradFill>
            <a:ln cap="sq" cmpd="sng" w="38100">
              <a:solidFill>
                <a:srgbClr val="10A5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txBox="1"/>
            <p:nvPr/>
          </p:nvSpPr>
          <p:spPr>
            <a:xfrm>
              <a:off x="0" y="-76200"/>
              <a:ext cx="1076227" cy="596568"/>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5"/>
          <p:cNvGrpSpPr/>
          <p:nvPr/>
        </p:nvGrpSpPr>
        <p:grpSpPr>
          <a:xfrm>
            <a:off x="6953525" y="6073392"/>
            <a:ext cx="4421737" cy="2451032"/>
            <a:chOff x="0" y="-76200"/>
            <a:chExt cx="1076227" cy="596568"/>
          </a:xfrm>
        </p:grpSpPr>
        <p:sp>
          <p:nvSpPr>
            <p:cNvPr id="162" name="Google Shape;162;p5"/>
            <p:cNvSpPr/>
            <p:nvPr/>
          </p:nvSpPr>
          <p:spPr>
            <a:xfrm>
              <a:off x="0" y="0"/>
              <a:ext cx="1076227" cy="520368"/>
            </a:xfrm>
            <a:custGeom>
              <a:rect b="b" l="l" r="r" t="t"/>
              <a:pathLst>
                <a:path extrusionOk="0" h="520368" w="1076227">
                  <a:moveTo>
                    <a:pt x="24512" y="0"/>
                  </a:moveTo>
                  <a:lnTo>
                    <a:pt x="1051715" y="0"/>
                  </a:lnTo>
                  <a:cubicBezTo>
                    <a:pt x="1065252" y="0"/>
                    <a:pt x="1076227" y="10975"/>
                    <a:pt x="1076227" y="24512"/>
                  </a:cubicBezTo>
                  <a:lnTo>
                    <a:pt x="1076227" y="495856"/>
                  </a:lnTo>
                  <a:cubicBezTo>
                    <a:pt x="1076227" y="509393"/>
                    <a:pt x="1065252" y="520368"/>
                    <a:pt x="1051715" y="520368"/>
                  </a:cubicBezTo>
                  <a:lnTo>
                    <a:pt x="24512" y="520368"/>
                  </a:lnTo>
                  <a:cubicBezTo>
                    <a:pt x="10975" y="520368"/>
                    <a:pt x="0" y="509393"/>
                    <a:pt x="0" y="495856"/>
                  </a:cubicBezTo>
                  <a:lnTo>
                    <a:pt x="0" y="24512"/>
                  </a:lnTo>
                  <a:cubicBezTo>
                    <a:pt x="0" y="10975"/>
                    <a:pt x="10975" y="0"/>
                    <a:pt x="24512" y="0"/>
                  </a:cubicBezTo>
                  <a:close/>
                </a:path>
              </a:pathLst>
            </a:custGeom>
            <a:gradFill>
              <a:gsLst>
                <a:gs pos="0">
                  <a:srgbClr val="03295A">
                    <a:alpha val="61960"/>
                  </a:srgbClr>
                </a:gs>
                <a:gs pos="100000">
                  <a:srgbClr val="041468">
                    <a:alpha val="74509"/>
                  </a:srgbClr>
                </a:gs>
              </a:gsLst>
              <a:lin ang="0" scaled="0"/>
            </a:gradFill>
            <a:ln cap="sq" cmpd="sng" w="38100">
              <a:solidFill>
                <a:srgbClr val="10A5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txBox="1"/>
            <p:nvPr/>
          </p:nvSpPr>
          <p:spPr>
            <a:xfrm>
              <a:off x="0" y="-76200"/>
              <a:ext cx="1076227" cy="596568"/>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4" name="Google Shape;164;p5"/>
          <p:cNvGrpSpPr/>
          <p:nvPr/>
        </p:nvGrpSpPr>
        <p:grpSpPr>
          <a:xfrm>
            <a:off x="1306539" y="6073392"/>
            <a:ext cx="4421737" cy="2451032"/>
            <a:chOff x="0" y="-76200"/>
            <a:chExt cx="1076227" cy="596568"/>
          </a:xfrm>
        </p:grpSpPr>
        <p:sp>
          <p:nvSpPr>
            <p:cNvPr id="165" name="Google Shape;165;p5"/>
            <p:cNvSpPr/>
            <p:nvPr/>
          </p:nvSpPr>
          <p:spPr>
            <a:xfrm>
              <a:off x="0" y="0"/>
              <a:ext cx="1076227" cy="520368"/>
            </a:xfrm>
            <a:custGeom>
              <a:rect b="b" l="l" r="r" t="t"/>
              <a:pathLst>
                <a:path extrusionOk="0" h="520368" w="1076227">
                  <a:moveTo>
                    <a:pt x="24512" y="0"/>
                  </a:moveTo>
                  <a:lnTo>
                    <a:pt x="1051715" y="0"/>
                  </a:lnTo>
                  <a:cubicBezTo>
                    <a:pt x="1065252" y="0"/>
                    <a:pt x="1076227" y="10975"/>
                    <a:pt x="1076227" y="24512"/>
                  </a:cubicBezTo>
                  <a:lnTo>
                    <a:pt x="1076227" y="495856"/>
                  </a:lnTo>
                  <a:cubicBezTo>
                    <a:pt x="1076227" y="509393"/>
                    <a:pt x="1065252" y="520368"/>
                    <a:pt x="1051715" y="520368"/>
                  </a:cubicBezTo>
                  <a:lnTo>
                    <a:pt x="24512" y="520368"/>
                  </a:lnTo>
                  <a:cubicBezTo>
                    <a:pt x="10975" y="520368"/>
                    <a:pt x="0" y="509393"/>
                    <a:pt x="0" y="495856"/>
                  </a:cubicBezTo>
                  <a:lnTo>
                    <a:pt x="0" y="24512"/>
                  </a:lnTo>
                  <a:cubicBezTo>
                    <a:pt x="0" y="10975"/>
                    <a:pt x="10975" y="0"/>
                    <a:pt x="24512" y="0"/>
                  </a:cubicBezTo>
                  <a:close/>
                </a:path>
              </a:pathLst>
            </a:custGeom>
            <a:gradFill>
              <a:gsLst>
                <a:gs pos="0">
                  <a:srgbClr val="03295A">
                    <a:alpha val="61960"/>
                  </a:srgbClr>
                </a:gs>
                <a:gs pos="100000">
                  <a:srgbClr val="041468">
                    <a:alpha val="74509"/>
                  </a:srgbClr>
                </a:gs>
              </a:gsLst>
              <a:lin ang="0" scaled="0"/>
            </a:gradFill>
            <a:ln cap="sq" cmpd="sng" w="38100">
              <a:solidFill>
                <a:srgbClr val="10A5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txBox="1"/>
            <p:nvPr/>
          </p:nvSpPr>
          <p:spPr>
            <a:xfrm>
              <a:off x="0" y="-76200"/>
              <a:ext cx="1076227" cy="596568"/>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7" name="Google Shape;167;p5"/>
          <p:cNvSpPr txBox="1"/>
          <p:nvPr/>
        </p:nvSpPr>
        <p:spPr>
          <a:xfrm>
            <a:off x="12788071" y="6629201"/>
            <a:ext cx="4037568" cy="1549515"/>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Limitaciones</a:t>
            </a:r>
            <a:endParaRPr/>
          </a:p>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 Integración con wearables (Fase futura)</a:t>
            </a:r>
            <a:endParaRPr/>
          </a:p>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 Autenticación (No priorizada para esta entrega)</a:t>
            </a:r>
            <a:endParaRPr/>
          </a:p>
        </p:txBody>
      </p:sp>
      <p:sp>
        <p:nvSpPr>
          <p:cNvPr id="168" name="Google Shape;168;p5"/>
          <p:cNvSpPr txBox="1"/>
          <p:nvPr/>
        </p:nvSpPr>
        <p:spPr>
          <a:xfrm>
            <a:off x="7145610" y="6629201"/>
            <a:ext cx="4037568" cy="1242174"/>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Chat Coach Virtual</a:t>
            </a:r>
            <a:endParaRPr/>
          </a:p>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 Asistente IA 24/7</a:t>
            </a:r>
            <a:endParaRPr/>
          </a:p>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 Ajuste dinámico semanal</a:t>
            </a:r>
            <a:endParaRPr/>
          </a:p>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 Proyecto factible en 8 semanas</a:t>
            </a:r>
            <a:endParaRPr/>
          </a:p>
        </p:txBody>
      </p:sp>
      <p:sp>
        <p:nvSpPr>
          <p:cNvPr id="169" name="Google Shape;169;p5"/>
          <p:cNvSpPr txBox="1"/>
          <p:nvPr/>
        </p:nvSpPr>
        <p:spPr>
          <a:xfrm>
            <a:off x="1498624" y="6629201"/>
            <a:ext cx="4037568" cy="1242174"/>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Alcance del Proyecto</a:t>
            </a:r>
            <a:endParaRPr/>
          </a:p>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 Generación de planes IA</a:t>
            </a:r>
            <a:endParaRPr/>
          </a:p>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 Generador de recetas personalizadas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sp>
        <p:nvSpPr>
          <p:cNvPr id="175" name="Google Shape;175;p6"/>
          <p:cNvSpPr/>
          <p:nvPr/>
        </p:nvSpPr>
        <p:spPr>
          <a:xfrm>
            <a:off x="5087143" y="275670"/>
            <a:ext cx="7232281" cy="6129358"/>
          </a:xfrm>
          <a:custGeom>
            <a:rect b="b" l="l" r="r" t="t"/>
            <a:pathLst>
              <a:path extrusionOk="0" h="6129358" w="7232281">
                <a:moveTo>
                  <a:pt x="0" y="0"/>
                </a:moveTo>
                <a:lnTo>
                  <a:pt x="7232281" y="0"/>
                </a:lnTo>
                <a:lnTo>
                  <a:pt x="7232281" y="6129359"/>
                </a:lnTo>
                <a:lnTo>
                  <a:pt x="0" y="6129359"/>
                </a:lnTo>
                <a:lnTo>
                  <a:pt x="0" y="0"/>
                </a:lnTo>
                <a:close/>
              </a:path>
            </a:pathLst>
          </a:custGeom>
          <a:blipFill rotWithShape="1">
            <a:blip r:embed="rId4">
              <a:alphaModFix/>
            </a:blip>
            <a:stretch>
              <a:fillRect b="0" l="0" r="0" t="0"/>
            </a:stretch>
          </a:blipFill>
          <a:ln>
            <a:noFill/>
          </a:ln>
        </p:spPr>
      </p:sp>
      <p:sp>
        <p:nvSpPr>
          <p:cNvPr id="176" name="Google Shape;176;p6"/>
          <p:cNvSpPr txBox="1"/>
          <p:nvPr/>
        </p:nvSpPr>
        <p:spPr>
          <a:xfrm>
            <a:off x="1203377" y="6617728"/>
            <a:ext cx="10665541" cy="909447"/>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5290" u="none" cap="none" strike="noStrike">
                <a:solidFill>
                  <a:srgbClr val="FFFFFF"/>
                </a:solidFill>
                <a:latin typeface="Arial"/>
                <a:ea typeface="Arial"/>
                <a:cs typeface="Arial"/>
                <a:sym typeface="Arial"/>
              </a:rPr>
              <a:t>Arquitectura y Tecnologías</a:t>
            </a:r>
            <a:endParaRPr/>
          </a:p>
        </p:txBody>
      </p:sp>
      <p:sp>
        <p:nvSpPr>
          <p:cNvPr id="177" name="Google Shape;177;p6"/>
          <p:cNvSpPr txBox="1"/>
          <p:nvPr/>
        </p:nvSpPr>
        <p:spPr>
          <a:xfrm>
            <a:off x="1203377" y="7553833"/>
            <a:ext cx="7499907" cy="1704510"/>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Frontend: React Native + Expo</a:t>
            </a:r>
            <a:endParaRPr/>
          </a:p>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Multiplataforma iOS/Android</a:t>
            </a:r>
            <a:endParaRPr/>
          </a:p>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Backend: Python + FastAPI</a:t>
            </a:r>
            <a:endParaRPr/>
          </a:p>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Óptimo para integraciones de IA</a:t>
            </a:r>
            <a:endParaRPr/>
          </a:p>
        </p:txBody>
      </p:sp>
      <p:sp>
        <p:nvSpPr>
          <p:cNvPr id="178" name="Google Shape;178;p6"/>
          <p:cNvSpPr txBox="1"/>
          <p:nvPr/>
        </p:nvSpPr>
        <p:spPr>
          <a:xfrm>
            <a:off x="9325833" y="7553833"/>
            <a:ext cx="7499907" cy="1704510"/>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Motor IA: API de Claude</a:t>
            </a:r>
            <a:endParaRPr/>
          </a:p>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Conversacional y lógico</a:t>
            </a:r>
            <a:endParaRPr/>
          </a:p>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Base de Datos: PostgreSQL</a:t>
            </a:r>
            <a:endParaRPr/>
          </a:p>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Robustez y escalabilidad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58" l="-32806" r="0" t="-48140"/>
            </a:stretch>
          </a:blipFill>
          <a:ln>
            <a:noFill/>
          </a:ln>
        </p:spPr>
      </p:sp>
      <p:sp>
        <p:nvSpPr>
          <p:cNvPr id="184" name="Google Shape;184;p7"/>
          <p:cNvSpPr txBox="1"/>
          <p:nvPr/>
        </p:nvSpPr>
        <p:spPr>
          <a:xfrm>
            <a:off x="3305711" y="1822585"/>
            <a:ext cx="11676578" cy="104634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6110" u="none" cap="none" strike="noStrike">
                <a:solidFill>
                  <a:srgbClr val="FFFFFF"/>
                </a:solidFill>
                <a:latin typeface="Arial"/>
                <a:ea typeface="Arial"/>
                <a:cs typeface="Arial"/>
                <a:sym typeface="Arial"/>
              </a:rPr>
              <a:t>Metodología de Trabajo</a:t>
            </a:r>
            <a:endParaRPr/>
          </a:p>
        </p:txBody>
      </p:sp>
      <p:sp>
        <p:nvSpPr>
          <p:cNvPr id="185" name="Google Shape;185;p7"/>
          <p:cNvSpPr txBox="1"/>
          <p:nvPr/>
        </p:nvSpPr>
        <p:spPr>
          <a:xfrm>
            <a:off x="1594847" y="2773629"/>
            <a:ext cx="15098306" cy="1014279"/>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2817" u="none" cap="none" strike="noStrike">
                <a:solidFill>
                  <a:srgbClr val="FFFFFF"/>
                </a:solidFill>
                <a:latin typeface="Arial"/>
                <a:ea typeface="Arial"/>
                <a:cs typeface="Arial"/>
                <a:sym typeface="Arial"/>
              </a:rPr>
              <a:t>No solo usamos Scrum; lo vivimos con dailies cortas y revisiones de código mediante Pull Requests para asegurar la calidad del desarrollo.</a:t>
            </a:r>
            <a:endParaRPr/>
          </a:p>
        </p:txBody>
      </p:sp>
      <p:sp>
        <p:nvSpPr>
          <p:cNvPr id="186" name="Google Shape;186;p7"/>
          <p:cNvSpPr txBox="1"/>
          <p:nvPr/>
        </p:nvSpPr>
        <p:spPr>
          <a:xfrm>
            <a:off x="538143" y="6125969"/>
            <a:ext cx="3764565" cy="1965597"/>
          </a:xfrm>
          <a:prstGeom prst="rect">
            <a:avLst/>
          </a:prstGeom>
          <a:noFill/>
          <a:ln>
            <a:noFill/>
          </a:ln>
        </p:spPr>
        <p:txBody>
          <a:bodyPr anchorCtr="0" anchor="t" bIns="0" lIns="0" spcFirstLastPara="1" rIns="0" wrap="square" tIns="0">
            <a:spAutoFit/>
          </a:bodyPr>
          <a:lstStyle/>
          <a:p>
            <a:pPr indent="0" lvl="0" marL="0" marR="0" rtl="0" algn="just">
              <a:lnSpc>
                <a:spcPct val="140032"/>
              </a:lnSpc>
              <a:spcBef>
                <a:spcPts val="0"/>
              </a:spcBef>
              <a:spcAft>
                <a:spcPts val="0"/>
              </a:spcAft>
              <a:buNone/>
            </a:pPr>
            <a:r>
              <a:rPr b="0" i="0" lang="en-US" sz="1841" u="none" cap="none" strike="noStrike">
                <a:solidFill>
                  <a:srgbClr val="FFFFFF"/>
                </a:solidFill>
                <a:latin typeface="Arial"/>
                <a:ea typeface="Arial"/>
                <a:cs typeface="Arial"/>
                <a:sym typeface="Arial"/>
              </a:rPr>
              <a:t>Scrum Adaptado</a:t>
            </a:r>
            <a:endParaRPr/>
          </a:p>
          <a:p>
            <a:pPr indent="0" lvl="0" marL="0" marR="0" rtl="0" algn="just">
              <a:lnSpc>
                <a:spcPct val="140032"/>
              </a:lnSpc>
              <a:spcBef>
                <a:spcPts val="0"/>
              </a:spcBef>
              <a:spcAft>
                <a:spcPts val="0"/>
              </a:spcAft>
              <a:buNone/>
            </a:pPr>
            <a:r>
              <a:rPr b="0" i="0" lang="en-US" sz="1841" u="none" cap="none" strike="noStrike">
                <a:solidFill>
                  <a:srgbClr val="FFFFFF"/>
                </a:solidFill>
                <a:latin typeface="Arial"/>
                <a:ea typeface="Arial"/>
                <a:cs typeface="Arial"/>
                <a:sym typeface="Arial"/>
              </a:rPr>
              <a:t>Metodología ágil personalizada para equipos pequeños con enfoque en entregas incrementales y mejora continua.</a:t>
            </a:r>
            <a:endParaRPr/>
          </a:p>
        </p:txBody>
      </p:sp>
      <p:sp>
        <p:nvSpPr>
          <p:cNvPr id="187" name="Google Shape;187;p7"/>
          <p:cNvSpPr txBox="1"/>
          <p:nvPr/>
        </p:nvSpPr>
        <p:spPr>
          <a:xfrm>
            <a:off x="5021752" y="6125969"/>
            <a:ext cx="3764565" cy="1641313"/>
          </a:xfrm>
          <a:prstGeom prst="rect">
            <a:avLst/>
          </a:prstGeom>
          <a:noFill/>
          <a:ln>
            <a:noFill/>
          </a:ln>
        </p:spPr>
        <p:txBody>
          <a:bodyPr anchorCtr="0" anchor="t" bIns="0" lIns="0" spcFirstLastPara="1" rIns="0" wrap="square" tIns="0">
            <a:spAutoFit/>
          </a:bodyPr>
          <a:lstStyle/>
          <a:p>
            <a:pPr indent="0" lvl="0" marL="0" marR="0" rtl="0" algn="just">
              <a:lnSpc>
                <a:spcPct val="140032"/>
              </a:lnSpc>
              <a:spcBef>
                <a:spcPts val="0"/>
              </a:spcBef>
              <a:spcAft>
                <a:spcPts val="0"/>
              </a:spcAft>
              <a:buNone/>
            </a:pPr>
            <a:r>
              <a:rPr b="0" i="0" lang="en-US" sz="1841" u="none" cap="none" strike="noStrike">
                <a:solidFill>
                  <a:srgbClr val="FFFFFF"/>
                </a:solidFill>
                <a:latin typeface="Arial"/>
                <a:ea typeface="Arial"/>
                <a:cs typeface="Arial"/>
                <a:sym typeface="Arial"/>
              </a:rPr>
              <a:t>Sprints de 1 Semana</a:t>
            </a:r>
            <a:endParaRPr/>
          </a:p>
          <a:p>
            <a:pPr indent="0" lvl="0" marL="0" marR="0" rtl="0" algn="just">
              <a:lnSpc>
                <a:spcPct val="140032"/>
              </a:lnSpc>
              <a:spcBef>
                <a:spcPts val="0"/>
              </a:spcBef>
              <a:spcAft>
                <a:spcPts val="0"/>
              </a:spcAft>
              <a:buNone/>
            </a:pPr>
            <a:r>
              <a:rPr b="0" i="0" lang="en-US" sz="1841" u="none" cap="none" strike="noStrike">
                <a:solidFill>
                  <a:srgbClr val="FFFFFF"/>
                </a:solidFill>
                <a:latin typeface="Arial"/>
                <a:ea typeface="Arial"/>
                <a:cs typeface="Arial"/>
                <a:sym typeface="Arial"/>
              </a:rPr>
              <a:t>Iteraciones cortas que permiten feedback rápido, ajustes ágiles y visibilidad constante del progreso.</a:t>
            </a:r>
            <a:endParaRPr/>
          </a:p>
        </p:txBody>
      </p:sp>
      <p:sp>
        <p:nvSpPr>
          <p:cNvPr id="188" name="Google Shape;188;p7"/>
          <p:cNvSpPr txBox="1"/>
          <p:nvPr/>
        </p:nvSpPr>
        <p:spPr>
          <a:xfrm>
            <a:off x="9506352" y="6125969"/>
            <a:ext cx="3764565" cy="1641313"/>
          </a:xfrm>
          <a:prstGeom prst="rect">
            <a:avLst/>
          </a:prstGeom>
          <a:noFill/>
          <a:ln>
            <a:noFill/>
          </a:ln>
        </p:spPr>
        <p:txBody>
          <a:bodyPr anchorCtr="0" anchor="t" bIns="0" lIns="0" spcFirstLastPara="1" rIns="0" wrap="square" tIns="0">
            <a:spAutoFit/>
          </a:bodyPr>
          <a:lstStyle/>
          <a:p>
            <a:pPr indent="0" lvl="0" marL="0" marR="0" rtl="0" algn="just">
              <a:lnSpc>
                <a:spcPct val="140032"/>
              </a:lnSpc>
              <a:spcBef>
                <a:spcPts val="0"/>
              </a:spcBef>
              <a:spcAft>
                <a:spcPts val="0"/>
              </a:spcAft>
              <a:buNone/>
            </a:pPr>
            <a:r>
              <a:rPr b="0" i="0" lang="en-US" sz="1841" u="none" cap="none" strike="noStrike">
                <a:solidFill>
                  <a:srgbClr val="FFFFFF"/>
                </a:solidFill>
                <a:latin typeface="Arial"/>
                <a:ea typeface="Arial"/>
                <a:cs typeface="Arial"/>
                <a:sym typeface="Arial"/>
              </a:rPr>
              <a:t>Gestión en Jira</a:t>
            </a:r>
            <a:endParaRPr/>
          </a:p>
          <a:p>
            <a:pPr indent="0" lvl="0" marL="0" marR="0" rtl="0" algn="just">
              <a:lnSpc>
                <a:spcPct val="140032"/>
              </a:lnSpc>
              <a:spcBef>
                <a:spcPts val="0"/>
              </a:spcBef>
              <a:spcAft>
                <a:spcPts val="0"/>
              </a:spcAft>
              <a:buNone/>
            </a:pPr>
            <a:r>
              <a:rPr b="0" i="0" lang="en-US" sz="1841" u="none" cap="none" strike="noStrike">
                <a:solidFill>
                  <a:srgbClr val="FFFFFF"/>
                </a:solidFill>
                <a:latin typeface="Arial"/>
                <a:ea typeface="Arial"/>
                <a:cs typeface="Arial"/>
                <a:sym typeface="Arial"/>
              </a:rPr>
              <a:t>Historias de Usuario y tareas organizadas con tableros Kanban para seguimiento transparente del trabajo.</a:t>
            </a:r>
            <a:endParaRPr/>
          </a:p>
        </p:txBody>
      </p:sp>
      <p:sp>
        <p:nvSpPr>
          <p:cNvPr id="189" name="Google Shape;189;p7"/>
          <p:cNvSpPr txBox="1"/>
          <p:nvPr/>
        </p:nvSpPr>
        <p:spPr>
          <a:xfrm>
            <a:off x="14067151" y="6125969"/>
            <a:ext cx="3764565" cy="1641313"/>
          </a:xfrm>
          <a:prstGeom prst="rect">
            <a:avLst/>
          </a:prstGeom>
          <a:noFill/>
          <a:ln>
            <a:noFill/>
          </a:ln>
        </p:spPr>
        <p:txBody>
          <a:bodyPr anchorCtr="0" anchor="t" bIns="0" lIns="0" spcFirstLastPara="1" rIns="0" wrap="square" tIns="0">
            <a:spAutoFit/>
          </a:bodyPr>
          <a:lstStyle/>
          <a:p>
            <a:pPr indent="0" lvl="0" marL="0" marR="0" rtl="0" algn="just">
              <a:lnSpc>
                <a:spcPct val="140032"/>
              </a:lnSpc>
              <a:spcBef>
                <a:spcPts val="0"/>
              </a:spcBef>
              <a:spcAft>
                <a:spcPts val="0"/>
              </a:spcAft>
              <a:buNone/>
            </a:pPr>
            <a:r>
              <a:rPr b="0" i="0" lang="en-US" sz="1841" u="none" cap="none" strike="noStrike">
                <a:solidFill>
                  <a:srgbClr val="FFFFFF"/>
                </a:solidFill>
                <a:latin typeface="Arial"/>
                <a:ea typeface="Arial"/>
                <a:cs typeface="Arial"/>
                <a:sym typeface="Arial"/>
              </a:rPr>
              <a:t>Control Git</a:t>
            </a:r>
            <a:endParaRPr/>
          </a:p>
          <a:p>
            <a:pPr indent="0" lvl="0" marL="0" marR="0" rtl="0" algn="just">
              <a:lnSpc>
                <a:spcPct val="140032"/>
              </a:lnSpc>
              <a:spcBef>
                <a:spcPts val="0"/>
              </a:spcBef>
              <a:spcAft>
                <a:spcPts val="0"/>
              </a:spcAft>
              <a:buNone/>
            </a:pPr>
            <a:r>
              <a:rPr b="0" i="0" lang="en-US" sz="1841" u="none" cap="none" strike="noStrike">
                <a:solidFill>
                  <a:srgbClr val="FFFFFF"/>
                </a:solidFill>
                <a:latin typeface="Arial"/>
                <a:ea typeface="Arial"/>
                <a:cs typeface="Arial"/>
                <a:sym typeface="Arial"/>
              </a:rPr>
              <a:t>Ramas main y develop con Pull Requests obligatorios para revisión de código y asegurar calidad.</a:t>
            </a:r>
            <a:endParaRPr/>
          </a:p>
        </p:txBody>
      </p:sp>
      <p:grpSp>
        <p:nvGrpSpPr>
          <p:cNvPr id="190" name="Google Shape;190;p7"/>
          <p:cNvGrpSpPr/>
          <p:nvPr/>
        </p:nvGrpSpPr>
        <p:grpSpPr>
          <a:xfrm>
            <a:off x="456284" y="4592503"/>
            <a:ext cx="1476315" cy="1476315"/>
            <a:chOff x="0" y="0"/>
            <a:chExt cx="812800" cy="812800"/>
          </a:xfrm>
        </p:grpSpPr>
        <p:sp>
          <p:nvSpPr>
            <p:cNvPr id="191" name="Google Shape;19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4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3" name="Google Shape;193;p7"/>
          <p:cNvGrpSpPr/>
          <p:nvPr/>
        </p:nvGrpSpPr>
        <p:grpSpPr>
          <a:xfrm>
            <a:off x="4939893" y="4592503"/>
            <a:ext cx="1476315" cy="1476315"/>
            <a:chOff x="0" y="0"/>
            <a:chExt cx="812800" cy="812800"/>
          </a:xfrm>
        </p:grpSpPr>
        <p:sp>
          <p:nvSpPr>
            <p:cNvPr id="194" name="Google Shape;194;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4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7"/>
          <p:cNvGrpSpPr/>
          <p:nvPr/>
        </p:nvGrpSpPr>
        <p:grpSpPr>
          <a:xfrm>
            <a:off x="9424492" y="4592503"/>
            <a:ext cx="1476315" cy="1476315"/>
            <a:chOff x="0" y="0"/>
            <a:chExt cx="812800" cy="812800"/>
          </a:xfrm>
        </p:grpSpPr>
        <p:sp>
          <p:nvSpPr>
            <p:cNvPr id="197" name="Google Shape;197;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4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7"/>
          <p:cNvGrpSpPr/>
          <p:nvPr/>
        </p:nvGrpSpPr>
        <p:grpSpPr>
          <a:xfrm>
            <a:off x="13985292" y="4592503"/>
            <a:ext cx="1476315" cy="1476315"/>
            <a:chOff x="0" y="0"/>
            <a:chExt cx="812800" cy="812800"/>
          </a:xfrm>
        </p:grpSpPr>
        <p:sp>
          <p:nvSpPr>
            <p:cNvPr id="200" name="Google Shape;200;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txBox="1"/>
            <p:nvPr/>
          </p:nvSpPr>
          <p:spPr>
            <a:xfrm>
              <a:off x="76200" y="19050"/>
              <a:ext cx="660400" cy="717550"/>
            </a:xfrm>
            <a:prstGeom prst="rect">
              <a:avLst/>
            </a:prstGeom>
            <a:noFill/>
            <a:ln>
              <a:noFill/>
            </a:ln>
          </p:spPr>
          <p:txBody>
            <a:bodyPr anchorCtr="0" anchor="ctr" bIns="0" lIns="0" spcFirstLastPara="1" rIns="0" wrap="square" tIns="0">
              <a:noAutofit/>
            </a:bodyPr>
            <a:lstStyle/>
            <a:p>
              <a:pPr indent="0" lvl="0" marL="0" marR="0" rtl="0" algn="ctr">
                <a:lnSpc>
                  <a:spcPct val="14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7"/>
          <p:cNvSpPr/>
          <p:nvPr/>
        </p:nvSpPr>
        <p:spPr>
          <a:xfrm>
            <a:off x="760456" y="4894557"/>
            <a:ext cx="806824" cy="911697"/>
          </a:xfrm>
          <a:custGeom>
            <a:rect b="b" l="l" r="r" t="t"/>
            <a:pathLst>
              <a:path extrusionOk="0" h="911697" w="806824">
                <a:moveTo>
                  <a:pt x="0" y="0"/>
                </a:moveTo>
                <a:lnTo>
                  <a:pt x="806824" y="0"/>
                </a:lnTo>
                <a:lnTo>
                  <a:pt x="806824" y="911697"/>
                </a:lnTo>
                <a:lnTo>
                  <a:pt x="0" y="911697"/>
                </a:lnTo>
                <a:lnTo>
                  <a:pt x="0" y="0"/>
                </a:lnTo>
                <a:close/>
              </a:path>
            </a:pathLst>
          </a:custGeom>
          <a:blipFill rotWithShape="1">
            <a:blip r:embed="rId4">
              <a:alphaModFix/>
            </a:blip>
            <a:stretch>
              <a:fillRect b="0" l="0" r="0" t="0"/>
            </a:stretch>
          </a:blipFill>
          <a:ln>
            <a:noFill/>
          </a:ln>
        </p:spPr>
      </p:sp>
      <p:sp>
        <p:nvSpPr>
          <p:cNvPr id="203" name="Google Shape;203;p7"/>
          <p:cNvSpPr/>
          <p:nvPr/>
        </p:nvSpPr>
        <p:spPr>
          <a:xfrm>
            <a:off x="14263478" y="4866378"/>
            <a:ext cx="858886" cy="855665"/>
          </a:xfrm>
          <a:custGeom>
            <a:rect b="b" l="l" r="r" t="t"/>
            <a:pathLst>
              <a:path extrusionOk="0" h="855665" w="858886">
                <a:moveTo>
                  <a:pt x="0" y="0"/>
                </a:moveTo>
                <a:lnTo>
                  <a:pt x="858886" y="0"/>
                </a:lnTo>
                <a:lnTo>
                  <a:pt x="858886" y="855666"/>
                </a:lnTo>
                <a:lnTo>
                  <a:pt x="0" y="855666"/>
                </a:lnTo>
                <a:lnTo>
                  <a:pt x="0" y="0"/>
                </a:lnTo>
                <a:close/>
              </a:path>
            </a:pathLst>
          </a:custGeom>
          <a:blipFill rotWithShape="1">
            <a:blip r:embed="rId5">
              <a:alphaModFix/>
            </a:blip>
            <a:stretch>
              <a:fillRect b="0" l="0" r="0" t="0"/>
            </a:stretch>
          </a:blipFill>
          <a:ln>
            <a:noFill/>
          </a:ln>
        </p:spPr>
      </p:sp>
      <p:sp>
        <p:nvSpPr>
          <p:cNvPr id="204" name="Google Shape;204;p7"/>
          <p:cNvSpPr/>
          <p:nvPr/>
        </p:nvSpPr>
        <p:spPr>
          <a:xfrm>
            <a:off x="5239391" y="4876185"/>
            <a:ext cx="863822" cy="862553"/>
          </a:xfrm>
          <a:custGeom>
            <a:rect b="b" l="l" r="r" t="t"/>
            <a:pathLst>
              <a:path extrusionOk="0" h="862553" w="863822">
                <a:moveTo>
                  <a:pt x="0" y="0"/>
                </a:moveTo>
                <a:lnTo>
                  <a:pt x="863822" y="0"/>
                </a:lnTo>
                <a:lnTo>
                  <a:pt x="863822" y="862554"/>
                </a:lnTo>
                <a:lnTo>
                  <a:pt x="0" y="862554"/>
                </a:lnTo>
                <a:lnTo>
                  <a:pt x="0" y="0"/>
                </a:lnTo>
                <a:close/>
              </a:path>
            </a:pathLst>
          </a:custGeom>
          <a:blipFill rotWithShape="1">
            <a:blip r:embed="rId6">
              <a:alphaModFix/>
            </a:blip>
            <a:stretch>
              <a:fillRect b="0" l="0" r="0" t="0"/>
            </a:stretch>
          </a:blipFill>
          <a:ln>
            <a:noFill/>
          </a:ln>
        </p:spPr>
      </p:sp>
      <p:sp>
        <p:nvSpPr>
          <p:cNvPr id="205" name="Google Shape;205;p7"/>
          <p:cNvSpPr/>
          <p:nvPr/>
        </p:nvSpPr>
        <p:spPr>
          <a:xfrm>
            <a:off x="9734649" y="4879678"/>
            <a:ext cx="896151" cy="799775"/>
          </a:xfrm>
          <a:custGeom>
            <a:rect b="b" l="l" r="r" t="t"/>
            <a:pathLst>
              <a:path extrusionOk="0" h="799775" w="896151">
                <a:moveTo>
                  <a:pt x="0" y="0"/>
                </a:moveTo>
                <a:lnTo>
                  <a:pt x="896151" y="0"/>
                </a:lnTo>
                <a:lnTo>
                  <a:pt x="896151" y="799775"/>
                </a:lnTo>
                <a:lnTo>
                  <a:pt x="0" y="799775"/>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8"/>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18519"/>
            </a:stretch>
          </a:blipFill>
          <a:ln>
            <a:noFill/>
          </a:ln>
        </p:spPr>
      </p:sp>
      <p:sp>
        <p:nvSpPr>
          <p:cNvPr id="211" name="Google Shape;211;p8"/>
          <p:cNvSpPr/>
          <p:nvPr/>
        </p:nvSpPr>
        <p:spPr>
          <a:xfrm>
            <a:off x="8754894" y="3214759"/>
            <a:ext cx="8629840" cy="5487791"/>
          </a:xfrm>
          <a:custGeom>
            <a:rect b="b" l="l" r="r" t="t"/>
            <a:pathLst>
              <a:path extrusionOk="0" h="917871" w="1443401">
                <a:moveTo>
                  <a:pt x="34987" y="0"/>
                </a:moveTo>
                <a:lnTo>
                  <a:pt x="1408414" y="0"/>
                </a:lnTo>
                <a:cubicBezTo>
                  <a:pt x="1417693" y="0"/>
                  <a:pt x="1426592" y="3686"/>
                  <a:pt x="1433154" y="10248"/>
                </a:cubicBezTo>
                <a:cubicBezTo>
                  <a:pt x="1439715" y="16809"/>
                  <a:pt x="1443401" y="25708"/>
                  <a:pt x="1443401" y="34987"/>
                </a:cubicBezTo>
                <a:lnTo>
                  <a:pt x="1443401" y="882884"/>
                </a:lnTo>
                <a:cubicBezTo>
                  <a:pt x="1443401" y="892163"/>
                  <a:pt x="1439715" y="901063"/>
                  <a:pt x="1433154" y="907624"/>
                </a:cubicBezTo>
                <a:cubicBezTo>
                  <a:pt x="1426592" y="914185"/>
                  <a:pt x="1417693" y="917871"/>
                  <a:pt x="1408414" y="917871"/>
                </a:cubicBezTo>
                <a:lnTo>
                  <a:pt x="34987" y="917871"/>
                </a:lnTo>
                <a:cubicBezTo>
                  <a:pt x="25708" y="917871"/>
                  <a:pt x="16809" y="914185"/>
                  <a:pt x="10248" y="907624"/>
                </a:cubicBezTo>
                <a:cubicBezTo>
                  <a:pt x="3686" y="901063"/>
                  <a:pt x="0" y="892163"/>
                  <a:pt x="0" y="882884"/>
                </a:cubicBezTo>
                <a:lnTo>
                  <a:pt x="0" y="34987"/>
                </a:lnTo>
                <a:cubicBezTo>
                  <a:pt x="0" y="25708"/>
                  <a:pt x="3686" y="16809"/>
                  <a:pt x="10248" y="10248"/>
                </a:cubicBezTo>
                <a:cubicBezTo>
                  <a:pt x="16809" y="3686"/>
                  <a:pt x="25708" y="0"/>
                  <a:pt x="34987" y="0"/>
                </a:cubicBezTo>
                <a:close/>
              </a:path>
            </a:pathLst>
          </a:custGeom>
          <a:blipFill rotWithShape="1">
            <a:blip r:embed="rId4">
              <a:alphaModFix/>
            </a:blip>
            <a:stretch>
              <a:fillRect b="-2975" l="0" r="0" t="-2975"/>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773612" y="3386006"/>
            <a:ext cx="7497702" cy="5145298"/>
          </a:xfrm>
          <a:custGeom>
            <a:rect b="b" l="l" r="r" t="t"/>
            <a:pathLst>
              <a:path extrusionOk="0" h="5145298" w="7497702">
                <a:moveTo>
                  <a:pt x="0" y="0"/>
                </a:moveTo>
                <a:lnTo>
                  <a:pt x="7497702" y="0"/>
                </a:lnTo>
                <a:lnTo>
                  <a:pt x="7497702" y="5145298"/>
                </a:lnTo>
                <a:lnTo>
                  <a:pt x="0" y="5145298"/>
                </a:lnTo>
                <a:lnTo>
                  <a:pt x="0" y="0"/>
                </a:lnTo>
                <a:close/>
              </a:path>
            </a:pathLst>
          </a:custGeom>
          <a:blipFill rotWithShape="1">
            <a:blip r:embed="rId5">
              <a:alphaModFix/>
            </a:blip>
            <a:stretch>
              <a:fillRect b="0" l="0" r="0" t="0"/>
            </a:stretch>
          </a:blipFill>
          <a:ln>
            <a:noFill/>
          </a:ln>
        </p:spPr>
      </p:sp>
      <p:sp>
        <p:nvSpPr>
          <p:cNvPr id="213" name="Google Shape;213;p8"/>
          <p:cNvSpPr txBox="1"/>
          <p:nvPr/>
        </p:nvSpPr>
        <p:spPr>
          <a:xfrm>
            <a:off x="4828925" y="1019175"/>
            <a:ext cx="7203900" cy="1206000"/>
          </a:xfrm>
          <a:prstGeom prst="rect">
            <a:avLst/>
          </a:prstGeom>
          <a:noFill/>
          <a:ln>
            <a:noFill/>
          </a:ln>
        </p:spPr>
        <p:txBody>
          <a:bodyPr anchorCtr="0" anchor="t" bIns="0" lIns="0" spcFirstLastPara="1" rIns="0" wrap="square" tIns="0">
            <a:spAutoFit/>
          </a:bodyPr>
          <a:lstStyle/>
          <a:p>
            <a:pPr indent="0" lvl="0" marL="0" marR="0" rtl="0" algn="l">
              <a:lnSpc>
                <a:spcPct val="108996"/>
              </a:lnSpc>
              <a:spcBef>
                <a:spcPts val="0"/>
              </a:spcBef>
              <a:spcAft>
                <a:spcPts val="0"/>
              </a:spcAft>
              <a:buNone/>
            </a:pPr>
            <a:r>
              <a:rPr b="0" i="0" lang="en-US" sz="7836" u="none" cap="none" strike="noStrike">
                <a:solidFill>
                  <a:srgbClr val="FFFFFF"/>
                </a:solidFill>
                <a:latin typeface="Arial"/>
                <a:ea typeface="Arial"/>
                <a:cs typeface="Arial"/>
                <a:sym typeface="Arial"/>
              </a:rPr>
              <a:t>Release Plan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sp>
      <p:sp>
        <p:nvSpPr>
          <p:cNvPr id="219" name="Google Shape;219;p9"/>
          <p:cNvSpPr/>
          <p:nvPr/>
        </p:nvSpPr>
        <p:spPr>
          <a:xfrm>
            <a:off x="473596" y="313393"/>
            <a:ext cx="17501882" cy="5940392"/>
          </a:xfrm>
          <a:custGeom>
            <a:rect b="b" l="l" r="r" t="t"/>
            <a:pathLst>
              <a:path extrusionOk="0" h="870405" w="2564431">
                <a:moveTo>
                  <a:pt x="17252" y="0"/>
                </a:moveTo>
                <a:lnTo>
                  <a:pt x="2547179" y="0"/>
                </a:lnTo>
                <a:cubicBezTo>
                  <a:pt x="2551755" y="0"/>
                  <a:pt x="2556143" y="1818"/>
                  <a:pt x="2559378" y="5053"/>
                </a:cubicBezTo>
                <a:cubicBezTo>
                  <a:pt x="2562613" y="8288"/>
                  <a:pt x="2564431" y="12676"/>
                  <a:pt x="2564431" y="17252"/>
                </a:cubicBezTo>
                <a:lnTo>
                  <a:pt x="2564431" y="853153"/>
                </a:lnTo>
                <a:cubicBezTo>
                  <a:pt x="2564431" y="857729"/>
                  <a:pt x="2562613" y="862117"/>
                  <a:pt x="2559378" y="865352"/>
                </a:cubicBezTo>
                <a:cubicBezTo>
                  <a:pt x="2556143" y="868587"/>
                  <a:pt x="2551755" y="870405"/>
                  <a:pt x="2547179" y="870405"/>
                </a:cubicBezTo>
                <a:lnTo>
                  <a:pt x="17252" y="870405"/>
                </a:lnTo>
                <a:cubicBezTo>
                  <a:pt x="12676" y="870405"/>
                  <a:pt x="8288" y="868587"/>
                  <a:pt x="5053" y="865352"/>
                </a:cubicBezTo>
                <a:cubicBezTo>
                  <a:pt x="1818" y="862117"/>
                  <a:pt x="0" y="857729"/>
                  <a:pt x="0" y="853153"/>
                </a:cubicBezTo>
                <a:lnTo>
                  <a:pt x="0" y="17252"/>
                </a:lnTo>
                <a:cubicBezTo>
                  <a:pt x="0" y="12676"/>
                  <a:pt x="1818" y="8288"/>
                  <a:pt x="5053" y="5053"/>
                </a:cubicBezTo>
                <a:cubicBezTo>
                  <a:pt x="8288" y="1818"/>
                  <a:pt x="12676" y="0"/>
                  <a:pt x="17252" y="0"/>
                </a:cubicBezTo>
                <a:close/>
              </a:path>
            </a:pathLst>
          </a:custGeom>
          <a:blipFill rotWithShape="1">
            <a:blip r:embed="rId4">
              <a:alphaModFix/>
            </a:blip>
            <a:stretch>
              <a:fillRect b="-18935" l="-2211" r="-13442" t="-26306"/>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txBox="1"/>
          <p:nvPr/>
        </p:nvSpPr>
        <p:spPr>
          <a:xfrm>
            <a:off x="1203377" y="6617728"/>
            <a:ext cx="10665541" cy="837932"/>
          </a:xfrm>
          <a:prstGeom prst="rect">
            <a:avLst/>
          </a:prstGeom>
          <a:noFill/>
          <a:ln>
            <a:noFill/>
          </a:ln>
        </p:spPr>
        <p:txBody>
          <a:bodyPr anchorCtr="0" anchor="t" bIns="0" lIns="0" spcFirstLastPara="1" rIns="0" wrap="square" tIns="0">
            <a:spAutoFit/>
          </a:bodyPr>
          <a:lstStyle/>
          <a:p>
            <a:pPr indent="0" lvl="0" marL="0" marR="0" rtl="0" algn="l">
              <a:lnSpc>
                <a:spcPct val="130006"/>
              </a:lnSpc>
              <a:spcBef>
                <a:spcPts val="0"/>
              </a:spcBef>
              <a:spcAft>
                <a:spcPts val="0"/>
              </a:spcAft>
              <a:buNone/>
            </a:pPr>
            <a:r>
              <a:rPr b="0" i="0" lang="en-US" sz="4819" u="none" cap="none" strike="noStrike">
                <a:solidFill>
                  <a:srgbClr val="FFFFFF"/>
                </a:solidFill>
                <a:latin typeface="Arial"/>
                <a:ea typeface="Arial"/>
                <a:cs typeface="Arial"/>
                <a:sym typeface="Arial"/>
              </a:rPr>
              <a:t>Evidencia: Onboarding y Perfilamiento</a:t>
            </a:r>
            <a:endParaRPr/>
          </a:p>
        </p:txBody>
      </p:sp>
      <p:sp>
        <p:nvSpPr>
          <p:cNvPr id="221" name="Google Shape;221;p9"/>
          <p:cNvSpPr txBox="1"/>
          <p:nvPr/>
        </p:nvSpPr>
        <p:spPr>
          <a:xfrm>
            <a:off x="1203377" y="7553833"/>
            <a:ext cx="7499907" cy="1704510"/>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Omitimos la autenticación estándar para enfocarnos en la recopilación de datos biométricos, que es lo que realmente alimenta a nuestra IA.</a:t>
            </a:r>
            <a:endParaRPr/>
          </a:p>
        </p:txBody>
      </p:sp>
      <p:sp>
        <p:nvSpPr>
          <p:cNvPr id="222" name="Google Shape;222;p9"/>
          <p:cNvSpPr txBox="1"/>
          <p:nvPr/>
        </p:nvSpPr>
        <p:spPr>
          <a:xfrm>
            <a:off x="9325833" y="7553833"/>
            <a:ext cx="7499907" cy="1704510"/>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El proceso de onboarding captura información clave del usuario: objetivos fitness, métricas corporales, preferencias alimentarias y nivel de actividad actual.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0"/>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228" name="Google Shape;228;p10"/>
          <p:cNvSpPr/>
          <p:nvPr/>
        </p:nvSpPr>
        <p:spPr>
          <a:xfrm>
            <a:off x="8710908" y="419714"/>
            <a:ext cx="9368942" cy="7458579"/>
          </a:xfrm>
          <a:custGeom>
            <a:rect b="b" l="l" r="r" t="t"/>
            <a:pathLst>
              <a:path extrusionOk="0" h="2355827" w="2959224">
                <a:moveTo>
                  <a:pt x="11569" y="0"/>
                </a:moveTo>
                <a:lnTo>
                  <a:pt x="2947656" y="0"/>
                </a:lnTo>
                <a:cubicBezTo>
                  <a:pt x="2954045" y="0"/>
                  <a:pt x="2959224" y="5180"/>
                  <a:pt x="2959224" y="11569"/>
                </a:cubicBezTo>
                <a:lnTo>
                  <a:pt x="2959224" y="2344259"/>
                </a:lnTo>
                <a:cubicBezTo>
                  <a:pt x="2959224" y="2350648"/>
                  <a:pt x="2954045" y="2355827"/>
                  <a:pt x="2947656" y="2355827"/>
                </a:cubicBezTo>
                <a:lnTo>
                  <a:pt x="11569" y="2355827"/>
                </a:lnTo>
                <a:cubicBezTo>
                  <a:pt x="5180" y="2355827"/>
                  <a:pt x="0" y="2350648"/>
                  <a:pt x="0" y="2344259"/>
                </a:cubicBezTo>
                <a:lnTo>
                  <a:pt x="0" y="11569"/>
                </a:lnTo>
                <a:cubicBezTo>
                  <a:pt x="0" y="5180"/>
                  <a:pt x="5180" y="0"/>
                  <a:pt x="11569" y="0"/>
                </a:cubicBezTo>
                <a:close/>
              </a:path>
            </a:pathLst>
          </a:custGeom>
          <a:blipFill rotWithShape="1">
            <a:blip r:embed="rId4">
              <a:alphaModFix/>
            </a:blip>
            <a:stretch>
              <a:fillRect b="-1281" l="0" r="0" t="-2035"/>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 name="Google Shape;229;p10"/>
          <p:cNvGrpSpPr/>
          <p:nvPr/>
        </p:nvGrpSpPr>
        <p:grpSpPr>
          <a:xfrm>
            <a:off x="10081851" y="7710837"/>
            <a:ext cx="6727507" cy="2451032"/>
            <a:chOff x="0" y="-76200"/>
            <a:chExt cx="1637439" cy="596568"/>
          </a:xfrm>
        </p:grpSpPr>
        <p:sp>
          <p:nvSpPr>
            <p:cNvPr id="230" name="Google Shape;230;p10"/>
            <p:cNvSpPr/>
            <p:nvPr/>
          </p:nvSpPr>
          <p:spPr>
            <a:xfrm>
              <a:off x="0" y="0"/>
              <a:ext cx="1637439" cy="520368"/>
            </a:xfrm>
            <a:custGeom>
              <a:rect b="b" l="l" r="r" t="t"/>
              <a:pathLst>
                <a:path extrusionOk="0" h="520368" w="1637439">
                  <a:moveTo>
                    <a:pt x="16111" y="0"/>
                  </a:moveTo>
                  <a:lnTo>
                    <a:pt x="1621328" y="0"/>
                  </a:lnTo>
                  <a:cubicBezTo>
                    <a:pt x="1630226" y="0"/>
                    <a:pt x="1637439" y="7213"/>
                    <a:pt x="1637439" y="16111"/>
                  </a:cubicBezTo>
                  <a:lnTo>
                    <a:pt x="1637439" y="504257"/>
                  </a:lnTo>
                  <a:cubicBezTo>
                    <a:pt x="1637439" y="513155"/>
                    <a:pt x="1630226" y="520368"/>
                    <a:pt x="1621328" y="520368"/>
                  </a:cubicBezTo>
                  <a:lnTo>
                    <a:pt x="16111" y="520368"/>
                  </a:lnTo>
                  <a:cubicBezTo>
                    <a:pt x="7213" y="520368"/>
                    <a:pt x="0" y="513155"/>
                    <a:pt x="0" y="504257"/>
                  </a:cubicBezTo>
                  <a:lnTo>
                    <a:pt x="0" y="16111"/>
                  </a:lnTo>
                  <a:cubicBezTo>
                    <a:pt x="0" y="7213"/>
                    <a:pt x="7213" y="0"/>
                    <a:pt x="16111" y="0"/>
                  </a:cubicBezTo>
                  <a:close/>
                </a:path>
              </a:pathLst>
            </a:custGeom>
            <a:gradFill>
              <a:gsLst>
                <a:gs pos="0">
                  <a:srgbClr val="03295A">
                    <a:alpha val="61960"/>
                  </a:srgbClr>
                </a:gs>
                <a:gs pos="100000">
                  <a:srgbClr val="041468">
                    <a:alpha val="74509"/>
                  </a:srgbClr>
                </a:gs>
              </a:gsLst>
              <a:lin ang="0" scaled="0"/>
            </a:gradFill>
            <a:ln cap="sq" cmpd="sng" w="38100">
              <a:solidFill>
                <a:srgbClr val="10A5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txBox="1"/>
            <p:nvPr/>
          </p:nvSpPr>
          <p:spPr>
            <a:xfrm>
              <a:off x="0" y="-76200"/>
              <a:ext cx="1637439" cy="596568"/>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2" name="Google Shape;232;p10"/>
          <p:cNvSpPr/>
          <p:nvPr/>
        </p:nvSpPr>
        <p:spPr>
          <a:xfrm>
            <a:off x="10284607" y="8408773"/>
            <a:ext cx="1609910" cy="1536934"/>
          </a:xfrm>
          <a:custGeom>
            <a:rect b="b" l="l" r="r" t="t"/>
            <a:pathLst>
              <a:path extrusionOk="0" h="1536934" w="1609910">
                <a:moveTo>
                  <a:pt x="0" y="0"/>
                </a:moveTo>
                <a:lnTo>
                  <a:pt x="1609910" y="0"/>
                </a:lnTo>
                <a:lnTo>
                  <a:pt x="1609910" y="1536933"/>
                </a:lnTo>
                <a:lnTo>
                  <a:pt x="0" y="1536933"/>
                </a:lnTo>
                <a:lnTo>
                  <a:pt x="0" y="0"/>
                </a:lnTo>
                <a:close/>
              </a:path>
            </a:pathLst>
          </a:custGeom>
          <a:blipFill rotWithShape="1">
            <a:blip r:embed="rId5">
              <a:alphaModFix/>
            </a:blip>
            <a:stretch>
              <a:fillRect b="0" l="0" r="0" t="0"/>
            </a:stretch>
          </a:blipFill>
          <a:ln>
            <a:noFill/>
          </a:ln>
        </p:spPr>
      </p:sp>
      <p:sp>
        <p:nvSpPr>
          <p:cNvPr id="233" name="Google Shape;233;p10"/>
          <p:cNvSpPr txBox="1"/>
          <p:nvPr/>
        </p:nvSpPr>
        <p:spPr>
          <a:xfrm>
            <a:off x="638486" y="4567862"/>
            <a:ext cx="7354667" cy="3015156"/>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418" u="none" cap="none" strike="noStrike">
                <a:solidFill>
                  <a:srgbClr val="FFFFFF"/>
                </a:solidFill>
                <a:latin typeface="Arial"/>
                <a:ea typeface="Arial"/>
                <a:cs typeface="Arial"/>
                <a:sym typeface="Arial"/>
              </a:rPr>
              <a:t>Aquí se observa la integración del chat con IA. El usuario no solo visualiza datos estáticos, sino que interactúa activamente con un coach virtual que comprende su contexto personal, historial de entrenamiento y objetivos específicos para ofrecer recomendaciones personalizadas en tiempo real.</a:t>
            </a:r>
            <a:endParaRPr/>
          </a:p>
        </p:txBody>
      </p:sp>
      <p:sp>
        <p:nvSpPr>
          <p:cNvPr id="234" name="Google Shape;234;p10"/>
          <p:cNvSpPr txBox="1"/>
          <p:nvPr/>
        </p:nvSpPr>
        <p:spPr>
          <a:xfrm>
            <a:off x="638486" y="2218208"/>
            <a:ext cx="8053372" cy="2157060"/>
          </a:xfrm>
          <a:prstGeom prst="rect">
            <a:avLst/>
          </a:prstGeom>
          <a:noFill/>
          <a:ln>
            <a:noFill/>
          </a:ln>
        </p:spPr>
        <p:txBody>
          <a:bodyPr anchorCtr="0" anchor="t" bIns="0" lIns="0" spcFirstLastPara="1" rIns="0" wrap="square" tIns="0">
            <a:spAutoFit/>
          </a:bodyPr>
          <a:lstStyle/>
          <a:p>
            <a:pPr indent="0" lvl="0" marL="0" marR="0" rtl="0" algn="l">
              <a:lnSpc>
                <a:spcPct val="130026"/>
              </a:lnSpc>
              <a:spcBef>
                <a:spcPts val="0"/>
              </a:spcBef>
              <a:spcAft>
                <a:spcPts val="0"/>
              </a:spcAft>
              <a:buNone/>
            </a:pPr>
            <a:r>
              <a:rPr b="0" i="0" lang="en-US" sz="6402" u="none" cap="none" strike="noStrike">
                <a:solidFill>
                  <a:srgbClr val="FFFFFF"/>
                </a:solidFill>
                <a:latin typeface="Arial"/>
                <a:ea typeface="Arial"/>
                <a:cs typeface="Arial"/>
                <a:sym typeface="Arial"/>
              </a:rPr>
              <a:t>Evidencia: Dashboard y Coach IA</a:t>
            </a:r>
            <a:endParaRPr/>
          </a:p>
        </p:txBody>
      </p:sp>
      <p:sp>
        <p:nvSpPr>
          <p:cNvPr id="235" name="Google Shape;235;p10"/>
          <p:cNvSpPr txBox="1"/>
          <p:nvPr/>
        </p:nvSpPr>
        <p:spPr>
          <a:xfrm>
            <a:off x="12200073" y="8266646"/>
            <a:ext cx="4120658" cy="1549515"/>
          </a:xfrm>
          <a:prstGeom prst="rect">
            <a:avLst/>
          </a:prstGeom>
          <a:noFill/>
          <a:ln>
            <a:noFill/>
          </a:ln>
        </p:spPr>
        <p:txBody>
          <a:bodyPr anchorCtr="0" anchor="t" bIns="0" lIns="0" spcFirstLastPara="1" rIns="0" wrap="square" tIns="0">
            <a:spAutoFit/>
          </a:bodyPr>
          <a:lstStyle/>
          <a:p>
            <a:pPr indent="0" lvl="0" marL="0" marR="0" rtl="0" algn="just">
              <a:lnSpc>
                <a:spcPct val="140057"/>
              </a:lnSpc>
              <a:spcBef>
                <a:spcPts val="0"/>
              </a:spcBef>
              <a:spcAft>
                <a:spcPts val="0"/>
              </a:spcAft>
              <a:buNone/>
            </a:pPr>
            <a:r>
              <a:rPr b="0" i="0" lang="en-US" sz="1745" u="none" cap="none" strike="noStrike">
                <a:solidFill>
                  <a:srgbClr val="FFFFFF"/>
                </a:solidFill>
                <a:latin typeface="Arial"/>
                <a:ea typeface="Arial"/>
                <a:cs typeface="Arial"/>
                <a:sym typeface="Arial"/>
              </a:rPr>
              <a:t>Interfaz intuitiva que combina navegación principal con asistente IA conversacional, permitiendo una experiencia de coaching personalizada 24/7.</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sp>
      <p:sp>
        <p:nvSpPr>
          <p:cNvPr id="241" name="Google Shape;241;p11"/>
          <p:cNvSpPr/>
          <p:nvPr/>
        </p:nvSpPr>
        <p:spPr>
          <a:xfrm>
            <a:off x="1047550" y="757680"/>
            <a:ext cx="16192901" cy="5496105"/>
          </a:xfrm>
          <a:custGeom>
            <a:rect b="b" l="l" r="r" t="t"/>
            <a:pathLst>
              <a:path extrusionOk="0" h="870405" w="2564431">
                <a:moveTo>
                  <a:pt x="18646" y="0"/>
                </a:moveTo>
                <a:lnTo>
                  <a:pt x="2545785" y="0"/>
                </a:lnTo>
                <a:cubicBezTo>
                  <a:pt x="2550730" y="0"/>
                  <a:pt x="2555473" y="1964"/>
                  <a:pt x="2558970" y="5461"/>
                </a:cubicBezTo>
                <a:cubicBezTo>
                  <a:pt x="2562466" y="8958"/>
                  <a:pt x="2564431" y="13701"/>
                  <a:pt x="2564431" y="18646"/>
                </a:cubicBezTo>
                <a:lnTo>
                  <a:pt x="2564431" y="851759"/>
                </a:lnTo>
                <a:cubicBezTo>
                  <a:pt x="2564431" y="862057"/>
                  <a:pt x="2556083" y="870405"/>
                  <a:pt x="2545785" y="870405"/>
                </a:cubicBezTo>
                <a:lnTo>
                  <a:pt x="18646" y="870405"/>
                </a:lnTo>
                <a:cubicBezTo>
                  <a:pt x="8348" y="870405"/>
                  <a:pt x="0" y="862057"/>
                  <a:pt x="0" y="851759"/>
                </a:cubicBezTo>
                <a:lnTo>
                  <a:pt x="0" y="18646"/>
                </a:lnTo>
                <a:cubicBezTo>
                  <a:pt x="0" y="8348"/>
                  <a:pt x="8348" y="0"/>
                  <a:pt x="18646" y="0"/>
                </a:cubicBezTo>
                <a:close/>
              </a:path>
            </a:pathLst>
          </a:custGeom>
          <a:blipFill rotWithShape="1">
            <a:blip r:embed="rId4">
              <a:alphaModFix/>
            </a:blip>
            <a:stretch>
              <a:fillRect b="-18180" l="-6013" r="-7375" t="-35911"/>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 name="Google Shape;242;p11"/>
          <p:cNvGrpSpPr/>
          <p:nvPr/>
        </p:nvGrpSpPr>
        <p:grpSpPr>
          <a:xfrm>
            <a:off x="12593704" y="5755921"/>
            <a:ext cx="3589307" cy="800185"/>
            <a:chOff x="0" y="-47625"/>
            <a:chExt cx="874183" cy="194886"/>
          </a:xfrm>
        </p:grpSpPr>
        <p:sp>
          <p:nvSpPr>
            <p:cNvPr id="243" name="Google Shape;243;p11"/>
            <p:cNvSpPr/>
            <p:nvPr/>
          </p:nvSpPr>
          <p:spPr>
            <a:xfrm>
              <a:off x="0" y="0"/>
              <a:ext cx="874183" cy="147261"/>
            </a:xfrm>
            <a:custGeom>
              <a:rect b="b" l="l" r="r" t="t"/>
              <a:pathLst>
                <a:path extrusionOk="0" h="147261" w="874183">
                  <a:moveTo>
                    <a:pt x="56080" y="0"/>
                  </a:moveTo>
                  <a:lnTo>
                    <a:pt x="818102" y="0"/>
                  </a:lnTo>
                  <a:cubicBezTo>
                    <a:pt x="832976" y="0"/>
                    <a:pt x="847240" y="5908"/>
                    <a:pt x="857757" y="16426"/>
                  </a:cubicBezTo>
                  <a:cubicBezTo>
                    <a:pt x="868274" y="26943"/>
                    <a:pt x="874183" y="41207"/>
                    <a:pt x="874183" y="56080"/>
                  </a:cubicBezTo>
                  <a:lnTo>
                    <a:pt x="874183" y="91181"/>
                  </a:lnTo>
                  <a:cubicBezTo>
                    <a:pt x="874183" y="106054"/>
                    <a:pt x="868274" y="120319"/>
                    <a:pt x="857757" y="130836"/>
                  </a:cubicBezTo>
                  <a:cubicBezTo>
                    <a:pt x="847240" y="141353"/>
                    <a:pt x="832976" y="147261"/>
                    <a:pt x="818102" y="147261"/>
                  </a:cubicBezTo>
                  <a:lnTo>
                    <a:pt x="56080" y="147261"/>
                  </a:lnTo>
                  <a:cubicBezTo>
                    <a:pt x="41207" y="147261"/>
                    <a:pt x="26943" y="141353"/>
                    <a:pt x="16426" y="130836"/>
                  </a:cubicBezTo>
                  <a:cubicBezTo>
                    <a:pt x="5908" y="120319"/>
                    <a:pt x="0" y="106054"/>
                    <a:pt x="0" y="91181"/>
                  </a:cubicBezTo>
                  <a:lnTo>
                    <a:pt x="0" y="56080"/>
                  </a:lnTo>
                  <a:cubicBezTo>
                    <a:pt x="0" y="41207"/>
                    <a:pt x="5908" y="26943"/>
                    <a:pt x="16426" y="16426"/>
                  </a:cubicBezTo>
                  <a:cubicBezTo>
                    <a:pt x="26943" y="5908"/>
                    <a:pt x="41207" y="0"/>
                    <a:pt x="56080" y="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txBox="1"/>
            <p:nvPr/>
          </p:nvSpPr>
          <p:spPr>
            <a:xfrm>
              <a:off x="0" y="-47625"/>
              <a:ext cx="874183" cy="194886"/>
            </a:xfrm>
            <a:prstGeom prst="rect">
              <a:avLst/>
            </a:prstGeom>
            <a:noFill/>
            <a:ln>
              <a:noFill/>
            </a:ln>
          </p:spPr>
          <p:txBody>
            <a:bodyPr anchorCtr="0" anchor="ctr" bIns="0" lIns="0" spcFirstLastPara="1" rIns="0" wrap="square" tIns="0">
              <a:noAutofit/>
            </a:bodyPr>
            <a:lstStyle/>
            <a:p>
              <a:pPr indent="0" lvl="0" marL="0" marR="0" rtl="0" algn="ctr">
                <a:lnSpc>
                  <a:spcPct val="130030"/>
                </a:lnSpc>
                <a:spcBef>
                  <a:spcPts val="0"/>
                </a:spcBef>
                <a:spcAft>
                  <a:spcPts val="0"/>
                </a:spcAft>
                <a:buNone/>
              </a:pPr>
              <a:r>
                <a:rPr b="0" i="0" lang="en-US" sz="1998" u="none" cap="none" strike="noStrike">
                  <a:solidFill>
                    <a:srgbClr val="FFFFFF"/>
                  </a:solidFill>
                  <a:latin typeface="Arial"/>
                  <a:ea typeface="Arial"/>
                  <a:cs typeface="Arial"/>
                  <a:sym typeface="Arial"/>
                </a:rPr>
                <a:t>Mockup: Progreso + Config</a:t>
              </a:r>
              <a:endParaRPr/>
            </a:p>
          </p:txBody>
        </p:sp>
      </p:grpSp>
      <p:sp>
        <p:nvSpPr>
          <p:cNvPr id="245" name="Google Shape;245;p11"/>
          <p:cNvSpPr txBox="1"/>
          <p:nvPr/>
        </p:nvSpPr>
        <p:spPr>
          <a:xfrm>
            <a:off x="1203377" y="6617728"/>
            <a:ext cx="10665541" cy="909447"/>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5290" u="none" cap="none" strike="noStrike">
                <a:solidFill>
                  <a:srgbClr val="FFFFFF"/>
                </a:solidFill>
                <a:latin typeface="Arial"/>
                <a:ea typeface="Arial"/>
                <a:cs typeface="Arial"/>
                <a:sym typeface="Arial"/>
              </a:rPr>
              <a:t>Evidencia: Progreso y Ajuste</a:t>
            </a:r>
            <a:endParaRPr/>
          </a:p>
        </p:txBody>
      </p:sp>
      <p:sp>
        <p:nvSpPr>
          <p:cNvPr id="246" name="Google Shape;246;p11"/>
          <p:cNvSpPr txBox="1"/>
          <p:nvPr/>
        </p:nvSpPr>
        <p:spPr>
          <a:xfrm>
            <a:off x="1203377" y="7553833"/>
            <a:ext cx="7499907" cy="1704510"/>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El usuario registra su desempeño semanal directamente en la app, incluyendo entrenamientos completados, métricas de peso y medidas corporales.</a:t>
            </a:r>
            <a:endParaRPr/>
          </a:p>
        </p:txBody>
      </p:sp>
      <p:sp>
        <p:nvSpPr>
          <p:cNvPr id="247" name="Google Shape;247;p11"/>
          <p:cNvSpPr txBox="1"/>
          <p:nvPr/>
        </p:nvSpPr>
        <p:spPr>
          <a:xfrm>
            <a:off x="9325833" y="7553833"/>
            <a:ext cx="7499907" cy="1704510"/>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None/>
            </a:pPr>
            <a:r>
              <a:rPr b="0" i="0" lang="en-US" sz="2398" u="none" cap="none" strike="noStrike">
                <a:solidFill>
                  <a:srgbClr val="FFFFFF"/>
                </a:solidFill>
                <a:latin typeface="Arial"/>
                <a:ea typeface="Arial"/>
                <a:cs typeface="Arial"/>
                <a:sym typeface="Arial"/>
              </a:rPr>
              <a:t>El sistema, mediante lógica de IA, analiza estos datos y propone cambios inteligentes al plan para la siguiente semana, optimizando resultados.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666" l="0" r="0" t="-666"/>
            </a:stretch>
          </a:blipFill>
          <a:ln>
            <a:noFill/>
          </a:ln>
        </p:spPr>
      </p:sp>
      <p:sp>
        <p:nvSpPr>
          <p:cNvPr id="253" name="Google Shape;253;p12"/>
          <p:cNvSpPr txBox="1"/>
          <p:nvPr/>
        </p:nvSpPr>
        <p:spPr>
          <a:xfrm>
            <a:off x="1485699" y="2245647"/>
            <a:ext cx="9536271" cy="1146596"/>
          </a:xfrm>
          <a:prstGeom prst="rect">
            <a:avLst/>
          </a:prstGeom>
          <a:noFill/>
          <a:ln>
            <a:noFill/>
          </a:ln>
        </p:spPr>
        <p:txBody>
          <a:bodyPr anchorCtr="0" anchor="t" bIns="0" lIns="0" spcFirstLastPara="1" rIns="0" wrap="square" tIns="0">
            <a:spAutoFit/>
          </a:bodyPr>
          <a:lstStyle/>
          <a:p>
            <a:pPr indent="0" lvl="0" marL="0" marR="0" rtl="0" algn="l">
              <a:lnSpc>
                <a:spcPct val="130001"/>
              </a:lnSpc>
              <a:spcBef>
                <a:spcPts val="0"/>
              </a:spcBef>
              <a:spcAft>
                <a:spcPts val="0"/>
              </a:spcAft>
              <a:buNone/>
            </a:pPr>
            <a:r>
              <a:rPr b="0" i="0" lang="en-US" sz="6653" u="none" cap="none" strike="noStrike">
                <a:solidFill>
                  <a:srgbClr val="FFFFFF"/>
                </a:solidFill>
                <a:latin typeface="Arial"/>
                <a:ea typeface="Arial"/>
                <a:cs typeface="Arial"/>
                <a:sym typeface="Arial"/>
              </a:rPr>
              <a:t>¡Gracias por su atención!</a:t>
            </a:r>
            <a:endParaRPr/>
          </a:p>
        </p:txBody>
      </p:sp>
      <p:sp>
        <p:nvSpPr>
          <p:cNvPr id="254" name="Google Shape;254;p12"/>
          <p:cNvSpPr txBox="1"/>
          <p:nvPr/>
        </p:nvSpPr>
        <p:spPr>
          <a:xfrm>
            <a:off x="1485699" y="4073285"/>
            <a:ext cx="8053372" cy="802158"/>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0" i="0" lang="en-US" sz="2218" u="none" cap="none" strike="noStrike">
                <a:solidFill>
                  <a:srgbClr val="FFFFFF"/>
                </a:solidFill>
                <a:latin typeface="Arial"/>
                <a:ea typeface="Arial"/>
                <a:cs typeface="Arial"/>
                <a:sym typeface="Arial"/>
              </a:rPr>
              <a:t>Estamos listos para la Fase 2: Desarrollo e implementación del MVP. ¿Preguntas o comentarios?</a:t>
            </a:r>
            <a:endParaRPr/>
          </a:p>
        </p:txBody>
      </p:sp>
      <p:sp>
        <p:nvSpPr>
          <p:cNvPr id="255" name="Google Shape;255;p12"/>
          <p:cNvSpPr txBox="1"/>
          <p:nvPr/>
        </p:nvSpPr>
        <p:spPr>
          <a:xfrm>
            <a:off x="1485699" y="3544009"/>
            <a:ext cx="8053372" cy="47643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0" i="0" lang="en-US" sz="2617" u="none" cap="none" strike="noStrike">
                <a:solidFill>
                  <a:srgbClr val="FFFFFF"/>
                </a:solidFill>
                <a:latin typeface="Arial"/>
                <a:ea typeface="Arial"/>
                <a:cs typeface="Arial"/>
                <a:sym typeface="Arial"/>
              </a:rPr>
              <a:t>FitAI: El futuro del coaching inteligente</a:t>
            </a:r>
            <a:endParaRPr/>
          </a:p>
        </p:txBody>
      </p:sp>
      <p:sp>
        <p:nvSpPr>
          <p:cNvPr id="256" name="Google Shape;256;p12"/>
          <p:cNvSpPr txBox="1"/>
          <p:nvPr/>
        </p:nvSpPr>
        <p:spPr>
          <a:xfrm>
            <a:off x="2187675" y="5556475"/>
            <a:ext cx="5267700" cy="3414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lang="en-US" sz="2218">
                <a:solidFill>
                  <a:srgbClr val="FFFFFF"/>
                </a:solidFill>
              </a:rPr>
              <a:t>https://github.com/cchartier94/Capstone</a:t>
            </a:r>
            <a:endParaRPr/>
          </a:p>
        </p:txBody>
      </p:sp>
      <p:sp>
        <p:nvSpPr>
          <p:cNvPr id="257" name="Google Shape;257;p12"/>
          <p:cNvSpPr txBox="1"/>
          <p:nvPr/>
        </p:nvSpPr>
        <p:spPr>
          <a:xfrm>
            <a:off x="2187669" y="6156329"/>
            <a:ext cx="6221596" cy="792802"/>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0" i="0" lang="en-US" sz="2218" u="none" cap="none" strike="noStrike">
                <a:solidFill>
                  <a:srgbClr val="FFFFFF"/>
                </a:solidFill>
                <a:latin typeface="Arial"/>
                <a:ea typeface="Arial"/>
                <a:cs typeface="Arial"/>
                <a:sym typeface="Arial"/>
              </a:rPr>
              <a:t>Duoc UC - Antonio Varas</a:t>
            </a:r>
            <a:endParaRPr/>
          </a:p>
          <a:p>
            <a:pPr indent="0" lvl="0" marL="0" marR="0" rtl="0" algn="l">
              <a:lnSpc>
                <a:spcPct val="139990"/>
              </a:lnSpc>
              <a:spcBef>
                <a:spcPts val="0"/>
              </a:spcBef>
              <a:spcAft>
                <a:spcPts val="0"/>
              </a:spcAft>
              <a:buNone/>
            </a:pPr>
            <a:r>
              <a:t/>
            </a:r>
            <a:endParaRPr b="0" i="0" sz="2218" u="none" cap="none" strike="noStrike">
              <a:solidFill>
                <a:srgbClr val="FFFFFF"/>
              </a:solidFill>
              <a:latin typeface="Arial"/>
              <a:ea typeface="Arial"/>
              <a:cs typeface="Arial"/>
              <a:sym typeface="Arial"/>
            </a:endParaRPr>
          </a:p>
        </p:txBody>
      </p:sp>
      <p:sp>
        <p:nvSpPr>
          <p:cNvPr id="258" name="Google Shape;258;p12"/>
          <p:cNvSpPr/>
          <p:nvPr/>
        </p:nvSpPr>
        <p:spPr>
          <a:xfrm>
            <a:off x="1485699" y="5432977"/>
            <a:ext cx="547952" cy="547952"/>
          </a:xfrm>
          <a:custGeom>
            <a:rect b="b" l="l" r="r" t="t"/>
            <a:pathLst>
              <a:path extrusionOk="0" h="547952" w="547952">
                <a:moveTo>
                  <a:pt x="0" y="0"/>
                </a:moveTo>
                <a:lnTo>
                  <a:pt x="547952" y="0"/>
                </a:lnTo>
                <a:lnTo>
                  <a:pt x="547952" y="547952"/>
                </a:lnTo>
                <a:lnTo>
                  <a:pt x="0" y="547952"/>
                </a:lnTo>
                <a:lnTo>
                  <a:pt x="0" y="0"/>
                </a:lnTo>
                <a:close/>
              </a:path>
            </a:pathLst>
          </a:custGeom>
          <a:blipFill rotWithShape="1">
            <a:blip r:embed="rId4">
              <a:alphaModFix/>
            </a:blip>
            <a:stretch>
              <a:fillRect b="0" l="0" r="0" t="0"/>
            </a:stretch>
          </a:blipFill>
          <a:ln>
            <a:noFill/>
          </a:ln>
        </p:spPr>
      </p:sp>
      <p:sp>
        <p:nvSpPr>
          <p:cNvPr id="259" name="Google Shape;259;p12"/>
          <p:cNvSpPr/>
          <p:nvPr/>
        </p:nvSpPr>
        <p:spPr>
          <a:xfrm>
            <a:off x="1495709" y="6075353"/>
            <a:ext cx="527932" cy="527932"/>
          </a:xfrm>
          <a:custGeom>
            <a:rect b="b" l="l" r="r" t="t"/>
            <a:pathLst>
              <a:path extrusionOk="0" h="527932" w="527932">
                <a:moveTo>
                  <a:pt x="0" y="0"/>
                </a:moveTo>
                <a:lnTo>
                  <a:pt x="527932" y="0"/>
                </a:lnTo>
                <a:lnTo>
                  <a:pt x="527932" y="527932"/>
                </a:lnTo>
                <a:lnTo>
                  <a:pt x="0" y="527932"/>
                </a:lnTo>
                <a:lnTo>
                  <a:pt x="0" y="0"/>
                </a:lnTo>
                <a:close/>
              </a:path>
            </a:pathLst>
          </a:custGeom>
          <a:blipFill rotWithShape="1">
            <a:blip r:embed="rId5">
              <a:alphaModFix/>
            </a:blip>
            <a:stretch>
              <a:fillRect b="0" l="0" r="0" t="0"/>
            </a:stretch>
          </a:blipFill>
          <a:ln>
            <a:noFill/>
          </a:ln>
        </p:spPr>
      </p:sp>
      <p:grpSp>
        <p:nvGrpSpPr>
          <p:cNvPr id="260" name="Google Shape;260;p12"/>
          <p:cNvGrpSpPr/>
          <p:nvPr/>
        </p:nvGrpSpPr>
        <p:grpSpPr>
          <a:xfrm>
            <a:off x="10257877" y="2052757"/>
            <a:ext cx="7308379" cy="7308379"/>
            <a:chOff x="6350" y="6350"/>
            <a:chExt cx="8903970" cy="8903970"/>
          </a:xfrm>
        </p:grpSpPr>
        <p:sp>
          <p:nvSpPr>
            <p:cNvPr id="261" name="Google Shape;261;p12"/>
            <p:cNvSpPr/>
            <p:nvPr/>
          </p:nvSpPr>
          <p:spPr>
            <a:xfrm>
              <a:off x="154940" y="154940"/>
              <a:ext cx="8605520" cy="8605520"/>
            </a:xfrm>
            <a:custGeom>
              <a:rect b="b" l="l" r="r" t="t"/>
              <a:pathLst>
                <a:path extrusionOk="0"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6350" y="6350"/>
              <a:ext cx="8903970" cy="8903970"/>
            </a:xfrm>
            <a:custGeom>
              <a:rect b="b" l="l" r="r" t="t"/>
              <a:pathLst>
                <a:path extrusionOk="0"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gradFill>
              <a:gsLst>
                <a:gs pos="0">
                  <a:srgbClr val="10A5FF"/>
                </a:gs>
                <a:gs pos="100000">
                  <a:srgbClr val="041E4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